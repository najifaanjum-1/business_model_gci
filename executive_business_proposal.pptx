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0A5FA"/>
                </a:solidFill>
              </a:defRPr>
            </a:pPr>
            <a:r>
              <a:t>PROJECT SMARTRETAIN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Machine Learning-Driven Customer Retention &amp; Value Preservation Strategy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A Proof of Concept (PoC) Business Transformation Proposal for Executive Leadership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1033272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297680"/>
            <a:ext cx="9784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Author: IT Consulting Associate, AI &amp; Data Science Practice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Client Engagement: PoC Machine Learning Business Development Project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Core Tech Stack: Scikit-Learn | HistGradientBoosting | Decision Trees | Quantitative Value Modeling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STRATEGIC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Summary: Transforming Churn Risk into $1.16M+ Net Annual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 / Citation: Internal PoC Data Analysis (Client.csv + Record.csv, N=100,000)   |   Project SmartRetain: Telecom AI Transformation   |   Slide 2 of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The Burning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C2626"/>
                </a:solidFill>
              </a:defRPr>
            </a:pPr>
            <a:r>
              <a:t>CURRENT CHURN RATE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49.56%</a:t>
            </a:r>
          </a:p>
          <a:p>
            <a:pPr>
              <a:defRPr sz="900" b="1">
                <a:solidFill>
                  <a:srgbClr val="DC2626"/>
                </a:solidFill>
              </a:defRPr>
            </a:pPr>
            <a:r>
              <a:t>ANNUAL REVENUE AT RISK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$34.45 Million</a:t>
            </a:r>
          </a:p>
          <a:p>
            <a:pPr>
              <a:defRPr sz="900" b="1">
                <a:solidFill>
                  <a:srgbClr val="DC2626"/>
                </a:solidFill>
              </a:defRPr>
            </a:pPr>
            <a:r>
              <a:t>CLIENT CHALLENGE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Large data volume (100k+ records), but lack of in-house machine learning capability to identify at-risk customers prior to cancellation.</a:t>
            </a:r>
          </a:p>
          <a:p>
            <a:pPr>
              <a:defRPr sz="900" b="1">
                <a:solidFill>
                  <a:srgbClr val="DC2626"/>
                </a:solidFill>
              </a:defRPr>
            </a:pPr>
            <a:r>
              <a:t>STRATEGIC RISK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Cost of acquiring new subscribers (CAC) is 5-7x higher than retention ($315 vs $45).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688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Machine Learning PoC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92024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PRIMARY MODEL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HistGradientBoosting</a:t>
            </a:r>
          </a:p>
          <a:p>
            <a:pPr>
              <a:defRPr sz="900" b="1">
                <a:solidFill>
                  <a:srgbClr val="2563EB"/>
                </a:solidFill>
              </a:defRPr>
            </a:pPr>
            <a:r>
              <a:t>ROC-AUC SCORE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0.6907 (0.691)</a:t>
            </a:r>
          </a:p>
          <a:p>
            <a:pPr>
              <a:defRPr sz="900" b="1">
                <a:solidFill>
                  <a:srgbClr val="2563EB"/>
                </a:solidFill>
              </a:defRPr>
            </a:pPr>
            <a:r>
              <a:t>DECILE 1 CHURN RATE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79.40% (1.60x Lift)</a:t>
            </a:r>
          </a:p>
          <a:p>
            <a:pPr>
              <a:defRPr sz="900" b="1">
                <a:solidFill>
                  <a:srgbClr val="2563EB"/>
                </a:solidFill>
              </a:defRPr>
            </a:pPr>
            <a:r>
              <a:t>KEY FINDING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Churn is heavily concentrated: 8 out of 10 customers in top predicted decile defect without intervention.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4688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Root-Cause Drivers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3A8A"/>
                </a:solidFill>
              </a:defRPr>
            </a:pPr>
            <a:r>
              <a:t>DEVICE OBSOLESCENCE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Equipment &gt;2 yrs old exhibits +16.1% higher churn (57.9% vs 41.8%).</a:t>
            </a:r>
          </a:p>
          <a:p>
            <a:pPr>
              <a:defRPr sz="900" b="1">
                <a:solidFill>
                  <a:srgbClr val="1E3A8A"/>
                </a:solidFill>
              </a:defRPr>
            </a:pPr>
            <a:r>
              <a:t>SILENT DISENGAGEMENT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0 customer care calls = 51.8% churn; customers leave without complaining.</a:t>
            </a:r>
          </a:p>
          <a:p>
            <a:pPr>
              <a:defRPr sz="900" b="1">
                <a:solidFill>
                  <a:srgbClr val="1E3A8A"/>
                </a:solidFill>
              </a:defRPr>
            </a:pPr>
            <a:r>
              <a:t>BILL SHOCK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Overage fees &gt;$30 drive churn rate above 52.6%.</a:t>
            </a:r>
          </a:p>
          <a:p>
            <a:pPr>
              <a:defRPr sz="900" b="1">
                <a:solidFill>
                  <a:srgbClr val="1E3A8A"/>
                </a:solidFill>
              </a:defRPr>
            </a:pPr>
            <a:r>
              <a:t>CONTRACT EXPIRATION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Peak churn cliff occurs in months 12-24.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371600"/>
            <a:ext cx="24688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Quantified Business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92024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TARGETED COHORT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Top 20% (Top 2 Deciles)</a:t>
            </a:r>
          </a:p>
          <a:p>
            <a:pPr>
              <a:defRPr sz="900" b="1">
                <a:solidFill>
                  <a:srgbClr val="10B981"/>
                </a:solidFill>
              </a:defRPr>
            </a:pPr>
            <a:r>
              <a:t>CHURNERS SAVED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3,285 Accounts / Year</a:t>
            </a:r>
          </a:p>
          <a:p>
            <a:pPr>
              <a:defRPr sz="900" b="1">
                <a:solidFill>
                  <a:srgbClr val="10B981"/>
                </a:solidFill>
              </a:defRPr>
            </a:pPr>
            <a:r>
              <a:t>GROSS REVENUE SAVED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$2,314,000 / Year</a:t>
            </a:r>
          </a:p>
          <a:p>
            <a:pPr>
              <a:defRPr sz="900" b="1">
                <a:solidFill>
                  <a:srgbClr val="10B981"/>
                </a:solidFill>
              </a:defRPr>
            </a:pPr>
            <a:r>
              <a:t>NET PROFIT LIFT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+$1,414,000 / Year</a:t>
            </a:r>
          </a:p>
          <a:p>
            <a:pPr>
              <a:defRPr sz="900" b="1">
                <a:solidFill>
                  <a:srgbClr val="10B981"/>
                </a:solidFill>
              </a:defRPr>
            </a:pPr>
            <a:r>
              <a:t>TARGETED ROI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157% (Payback: 4.7 Mos)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MARKET &amp; INDUSTRY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Market Analysis: The Economics of Retention in Saturated Telecom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 / Citation: McKinsey (2021); Bain &amp; Company (2020); GSMA Intelligence (2023); FCC Mobile Competition Report (2022)   |   Project SmartRetain: Telecom AI Transformation   |   Slide 3 of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Telecommunications Macro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- Market Saturation &amp; Slower Growth: 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Mobile subscriber penetration exceeds 105% in mature markets. Growth is no longer driven by new customer additions, but by stealing share from competitors (zero-sum game). [GSMA, 2023]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- Asymmetric CAC vs Retention Economics: 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Customer Acquisition Cost (CAC) in telecom averages $315 - $400 (handset subsidies, retail commissions, marketing). Conversely, targeted proactive retention costs ~$45/offer. Acquiring a customer costs 5x to 7x more than retaining an existing one. [Bain &amp; Co., 2020]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- High Profit Sensitivity to Retention: 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Bain &amp; Company's classic loyalty studies prove that a modest 5% increase in customer retention produces a 25% to 95% increase in operating profits due to amortization of acquisition costs and higher lifetime value.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- The AI Paradigm Shift: 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Gartner (2022) reports that Tier-1 Communications Service Providers (CSPs) utilizing automated ML retention pipelines have reduced overall churn by 15-25% compared to legacy rule-based reactive customer care.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Client Strategic Positioning vs Industry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DC2626"/>
                </a:solidFill>
              </a:defRPr>
            </a:pPr>
            <a:r>
              <a:t>- Reactive vs Proactive Retention: 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The client currently relies on reactive save desks (customers calling to cancel). By the time a customer calls customer care to disconnect, &gt;80% have already chosen a competitor.</a:t>
            </a:r>
          </a:p>
          <a:p>
            <a:pPr>
              <a:defRPr b="1" sz="1000">
                <a:solidFill>
                  <a:srgbClr val="DC2626"/>
                </a:solidFill>
              </a:defRPr>
            </a:pPr>
            <a:r>
              <a:t>- Sub-Optimal Budget Allocation: 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Without predictive risk scoring, marketing teams send untargeted discount blasts to all customers, subsidizing accounts that would never churn and wasting limited OPEX.</a:t>
            </a:r>
          </a:p>
          <a:p>
            <a:pPr>
              <a:defRPr b="1" sz="1000">
                <a:solidFill>
                  <a:srgbClr val="DC2626"/>
                </a:solidFill>
              </a:defRPr>
            </a:pPr>
            <a:r>
              <a:t>- Hardware Subsidy Misalignment: 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Competitors offer 24-month trade-in upgrades. The client's lack of proactive hardware refresh tracking creates severe customer defection after month 12 as handsets degrade.</a:t>
            </a:r>
          </a:p>
          <a:p>
            <a:pPr>
              <a:defRPr b="1" sz="1000">
                <a:solidFill>
                  <a:srgbClr val="DC2626"/>
                </a:solidFill>
              </a:defRPr>
            </a:pPr>
            <a:r>
              <a:t>- Consulting PoC Value Mandate: 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This PoC bridges the gap: deploying a high-precision ML scoring engine to target the top 20% risk deciles, enabling surgical retention offers with quantified positive ROI.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DATA-DRIVEN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Defining the Client's Core Problem: $34.45M Annualized Churn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 / Citation: PoC Dataset Analysis: Client.csv &amp; Record.csv (N=100,000)   |   Project SmartRetain: Telecom AI Transformation   |   Slide 4 of 15</a:t>
            </a:r>
          </a:p>
        </p:txBody>
      </p:sp>
      <p:pic>
        <p:nvPicPr>
          <p:cNvPr id="5" name="Picture 4" descr="ed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Executive Insights from Data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0F172A"/>
                </a:solidFill>
              </a:defRPr>
            </a:pPr>
            <a:r>
              <a:t>- Massive Revenue Leakage: 49,562 customers out of 100,000 churned in this dataset, representing $2.87M monthly revenue lost ($34.45M annualized).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- High Value Parity: Churned customers average $57.91/mo in revenue vs $59.52/mo for active accounts. The client is not just losing low-value 'fringe' users, but highly valuable core subscribers.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- Inefficiency of Untargeted Action: With an overall churn baseline near ~50%, random or blanket retention campaigns would waste half their budget on customers who were never planning to leave.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EXPLORATORY DATA ANALYSIS (HARDWARE)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EDA Discovery 1: Hardware Aging &amp; Device Obsolescence Drives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 / Citation: PoC Dataset: Handset Age (eqpdays), Price Tier (hnd_price), Web Capability (hnd_webcap)   |   Project SmartRetain: Telecom AI Transformation   |   Slide 5 of 15</a:t>
            </a:r>
          </a:p>
        </p:txBody>
      </p:sp>
      <p:pic>
        <p:nvPicPr>
          <p:cNvPr id="5" name="Picture 4" descr="eda_equipment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94944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55279" y="1280160"/>
            <a:ext cx="347472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59" y="1417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Root Cause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8288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The '2-Year Device Cliff': 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Churn surges from 41.8% for devices &lt; 6 months old to 57.9% for devices &gt; 2 years (+16.1% penalty). Customers with older hardware defect to get subsidized new phones from competitors.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Budget Handset Trap: 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Subscribers with budget handsets ($1-$50) have an alarming 57.5% churn rate, compared to just 41.0% for premium tier (&gt;$150). Low-end devices lead to battery/app frustration.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Web-Browsing Gap: 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Customers locked into legacy non-browsing phones (WC) churn at 56.3%, compared to 47.1% for mobile browser devices (WCMB). Modern data capability anchors customer retention.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Refurbished Degradation: 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Refurbished handsets show +4.5% higher churn (53.4% vs 48.9%), indicating quality or reliability dissatisfaction.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EXPLORATORY DATA ANALYSIS (BEHAVIORAL)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EDA Discovery 2: The 'Silent Churner' &amp; Usage Velocity Signatures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 / Citation: PoC Dataset: Customer Care Calls (custcare_Mean), Usage Change (change_mou), Overages (ovrrev_Mean)   |   Project SmartRetain: Telecom AI Transformation   |   Slide 6 of 15</a:t>
            </a:r>
          </a:p>
        </p:txBody>
      </p:sp>
      <p:pic>
        <p:nvPicPr>
          <p:cNvPr id="5" name="Picture 4" descr="eda_behavioral_bi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Key Behavioral &amp; Operational Discoveries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0F172A"/>
                </a:solidFill>
              </a:defRPr>
            </a:pPr>
            <a:r>
              <a:t>- The 'Silent Churner' Trap: Counter-intuitively, customers with 0 customer care calls churn at 51.8%, while active callers (&gt;5 calls) churn at 44.1%. Customers do not complain before leaving; they quietly disengage.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- Usage Contraction Precedes Defection: Customers experiencing a severe drop in monthly minutes (&gt;100 MOU drop) churn at 53.6% vs 45.4% for growing accounts. Usage velocity is an early-warning signal 60-90 days before churn.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- Bill Shock Drives Friction: Overage fees &gt;$30 push churn to 52.6%. Unexpected charges damage customer trust and prompt immediate contract termination upon expiration.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EXPLORATORY DATA ANALYSIS (LIFECYCLE)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EDA Discovery 3: Contract Lifecycles, Overages, &amp; Account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 / Citation: PoC Dataset: Tenure (months), Account Spending Limit (asl_flag), Credit Class (crclscod)   |   Project SmartRetain: Telecom AI Transformation   |   Slide 7 of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Tenure &amp; Contract Expiry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THE 12-24 MONTH CLIFF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Subscribers in their 13-24th month exhibit peak churn at 51.78% (vs 46.78% for &lt;=12 months).</a:t>
            </a:r>
          </a:p>
          <a:p>
            <a:pPr>
              <a:defRPr sz="1000" b="1">
                <a:solidFill>
                  <a:srgbClr val="1E3A8A"/>
                </a:solidFill>
              </a:defRPr>
            </a:pPr>
            <a:r>
              <a:t>DRIVER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This aligns perfectly with standard 1-year and 2-year contract expiration cycles where carrier subsidies expire.</a:t>
            </a:r>
          </a:p>
          <a:p>
            <a:pPr>
              <a:defRPr sz="1000" b="1">
                <a:solidFill>
                  <a:srgbClr val="1E3A8A"/>
                </a:solidFill>
              </a:defRPr>
            </a:pPr>
            <a:r>
              <a:t>OPPORTUNITY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Proactive engagement triggered at month 10 and month 22 captures subscribers before competitors offer porting deals.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Account Spending Limits (ASL)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ASL FLAG IMPACT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Customers with Account Spending Limits (asl_flag = 'Y') churn at only 40.93% vs 50.96% for standard users.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DRIVER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Spending limits cap bill shock and protect budget-conscious users from predatory overages.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OPPORTUNITY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Introducing automated smart spend alerts and voluntary plan guardrails can replicate this protective retention effect across standard accounts.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Credit Risk &amp; Single Line Vulnerability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CREDIT CLASS VOLATILITY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Sub-prime credit tiers (e.g. A2) exhibit catastrophic churn rates up to 61.56%.</a:t>
            </a:r>
          </a:p>
          <a:p>
            <a:pPr>
              <a:defRPr sz="1000" b="1">
                <a:solidFill>
                  <a:srgbClr val="DC2626"/>
                </a:solidFill>
              </a:defRPr>
            </a:pPr>
            <a:r>
              <a:t>SINGLE LINE VS MULTI-LINE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Accounts with only 1 unique subscription churn at higher rates than family bundles with multiple lines.</a:t>
            </a:r>
          </a:p>
          <a:p>
            <a:pPr>
              <a:defRPr sz="1000" b="1">
                <a:solidFill>
                  <a:srgbClr val="DC2626"/>
                </a:solidFill>
              </a:defRPr>
            </a:pPr>
            <a:r>
              <a:t>OPPORTUNITY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Multi-line family plans create 'sticky' ecosystems with high switching friction; credit-sensitive tiers require prepaid safety nets.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ML ARCHITECTURE &amp;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Machine Learning Framework: End-to-End Enterprise Solution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 / Citation: Methodology Reference: Verbeke et al. (2012); Scikit-Learn Production Pipeline   |   Project SmartRetain: Telecom AI Transformation   |   Slide 8 of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96596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1: Ingestion &amp;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11680"/>
            <a:ext cx="174650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Inner join of Client.csv (50 cols: demographics, equipment, credit) and Record.csv (51 cols: usage, calls, billing) on Customer_ID.</a:t>
            </a:r>
            <a:br/>
            <a:r>
              <a:t>Total: 100,000 customers.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16936" y="1463040"/>
            <a:ext cx="196596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9816" y="160020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2: Feature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6664" y="2011680"/>
            <a:ext cx="174650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Engineered domain indicators:</a:t>
            </a:r>
            <a:br/>
            <a:r>
              <a:t>- Usage Drop Ratio (change_mou / mou)</a:t>
            </a:r>
            <a:br/>
            <a:r>
              <a:t>- Overage Ratio (ovrrev / rev)</a:t>
            </a:r>
            <a:br/>
            <a:r>
              <a:t>- Call Failure Rate (drop_blk / attempt)</a:t>
            </a:r>
            <a:br/>
            <a:r>
              <a:t>- Equipment Age in Years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2" y="1463040"/>
            <a:ext cx="196596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85232" y="160020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3: Preprocessing &amp;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011680"/>
            <a:ext cx="174650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Stratified 80/20 train-test split (80k train / 20k test).</a:t>
            </a:r>
            <a:br/>
            <a:r>
              <a:t>Frequency encoding for high-cardinality categoricals (Area, Credit Class).</a:t>
            </a:r>
            <a:br/>
            <a:r>
              <a:t>One-hot encoding for binary/nominal.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87768" y="1463040"/>
            <a:ext cx="196596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0648" y="160020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4: Multi-Model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2011680"/>
            <a:ext cx="174650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Rigorous comparison of:</a:t>
            </a:r>
            <a:br/>
            <a:r>
              <a:t>- HistGradientBoosting (LightGBM)</a:t>
            </a:r>
            <a:br/>
            <a:r>
              <a:t>- Random Forest Classifier (Bagging)</a:t>
            </a:r>
            <a:br/>
            <a:r>
              <a:t>- Logistic Regression (Linear Baseline)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3184" y="1463040"/>
            <a:ext cx="196596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6064" y="160020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5: Decile Risk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2912" y="2011680"/>
            <a:ext cx="174650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Generate calibrated churn probability scores P(Churn).</a:t>
            </a:r>
            <a:br/>
            <a:r>
              <a:t>Rank base into 10 risk deciles to enable surgical ROI-maximizing retention campaigns.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ML MODEL EVALUATION &amp;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Machine Learning Scorecard: Model Selection, Evaluation Metrics &amp; 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 / Citation: Evaluation on Out-of-Sample Test Set (N=20,000); Stratified 80/20 Split; Random State = 42   |   Project SmartRetain: Telecom AI Transformation   |   Slide 9 of 15</a:t>
            </a:r>
          </a:p>
        </p:txBody>
      </p:sp>
      <p:pic>
        <p:nvPicPr>
          <p:cNvPr id="5" name="Picture 4" descr="ml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31520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280160"/>
            <a:ext cx="320040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417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Model Comparison &amp; Rationale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Selected Production Model: 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HistGradientBoostingClassifier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Key Evaluation Metrics &amp; Scores: 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- ROC-AUC: 0.6913 (vs RF: 0.6746, LR: 0.6328)</a:t>
            </a:r>
            <a:br/>
            <a:r>
              <a:t>- PR-AUC: 0.6836 (vs RF: 0.6636, LR: 0.6102)</a:t>
            </a:r>
            <a:br/>
            <a:r>
              <a:t>- Accuracy: 63.50% (vs RF: 62.04%, LR: 59.96%)</a:t>
            </a:r>
            <a:br/>
            <a:r>
              <a:t>- F1-Score: 0.6347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Why HistGradientBoosting Was Chosen: 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- State-of-the-art LightGBM histogram binning handles complex non-linear churn interactions.</a:t>
            </a:r>
            <a:br/>
            <a:r>
              <a:t>- Natively handles missing values (crucial for survey &amp; demographic nulls) without distorting distributions.</a:t>
            </a:r>
            <a:br/>
            <a:r>
              <a:t>- Superior probability calibration: generates the sharpest decile separation (1.60x top-decile lift).</a:t>
            </a:r>
            <a:br/>
            <a:r>
              <a:t>- 3x faster training speed (9.7s vs 14.3s for RF).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MODEL 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Model Explainability: Root-Cause Permutation Importance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 / Citation: Permutation Feature Importance on Test Subset (Scoring = ROC-AUC Decrease); Ke et al. (2017)   |   Project SmartRetain: Telecom AI Transformation   |   Slide 10 of 15</a:t>
            </a:r>
          </a:p>
        </p:txBody>
      </p:sp>
      <p:pic>
        <p:nvPicPr>
          <p:cNvPr id="5" name="Picture 4" descr="ml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85800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280160"/>
            <a:ext cx="356616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417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Actionable Business Levers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73736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1. Usage Contraction (Rank #1): 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Usage drop ratio is the single strongest individual predictor of churn. A customer cutting minutes is actively testing or using a secondary SIM/competitor.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2. Device Obsolescence (Rank #2 &amp; #5): 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Equipment days and handset price occupy two top-5 spots. The model confirms customer frustration with aging handsets is the primary hardware catalyst.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3. Contract Milestones (Rank #3): 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Tenure in months flags the vulnerable renewal windows (12 and 24 months).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4. Base Plan &amp; Billing (Rank #4 &amp; #10): 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Base recurring charges and overage ratios represent financial friction points where plan misalignments trigger customer cancellation.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Executive Takeaway: 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Network drop calls (drop_vce) rank low (#11). Retention is WON or LOST on device lifecycle and plan suitability, not cell tower quality.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DECILE LIFT &amp; VALUE TARGETING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Targeted Risk Segmentation: Concentrating Churners into Top Deciles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 / Citation: Decile Lift Analysis: 20,000 Out-of-Sample Test Records; Burez &amp; Van den Poel (2009)   |   Project SmartRetain: Telecom AI Transformation   |   Slide 11 of 15</a:t>
            </a:r>
          </a:p>
        </p:txBody>
      </p:sp>
      <p:pic>
        <p:nvPicPr>
          <p:cNvPr id="5" name="Picture 4" descr="ml_decile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Targeting Optimization: Maximizing Budget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0F172A"/>
                </a:solidFill>
              </a:defRPr>
            </a:pPr>
            <a:r>
              <a:t>- Decile 1 Extreme Concentration: In the top 10% highest-risk predicted accounts, 79.40% actually churn (1.60x baseline lift). 8 out of 10 targeted customers are definite defectors.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- Top 20% Cumulative Power: Targeting Deciles 1 &amp; 2 captures ~30% of ALL churners in the business (2,919 out of 9,912 in test set), with an average churn rate of 73.0%.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- Pristine Bottom Deciles: In Decile 10, churn drops to only 19.60%. The model cleanly separates safe, satisfied accounts, ensuring zero marketing dollars are wasted on self-retaining customers.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STRATEGIC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Strategic Proposal: 'SmartRetain AI' 3-Pillar Proactive Retention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 / Citation: Operationalization Framework: Proactive Machine Learning Driven Customer Lifecycle Management   |   Project SmartRetain: Telecom AI Transformation   |   Slide 12 of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Pillar 1: SmartUpgrade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63EB"/>
                </a:solidFill>
              </a:defRPr>
            </a:pPr>
            <a:r>
              <a:t>PREDICTIVE HARDWARE REFRESH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TARGETING TRIGGER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Accounts in Deciles 1-2 with equipment age &gt; 365 days or legacy 2G/non-browser handsets.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INTERVENTION OFFER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Personalized $50-$100 hardware subsidy trade-in coupon + 12-month re-contract commitment.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BUSINESS MECHANISM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Neutralizes competitor device-upgrade switching offers before customer shops around.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EXPECTED CHURN LIFT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Reduces equipment-driven churn by 25-30% in target cohort.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Pillar 2: SmartPlan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E3A8A"/>
                </a:solidFill>
              </a:defRPr>
            </a:pPr>
            <a:r>
              <a:t>DYNAMIC PLAN RIGHT-SIZING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TARGETING TRIGGER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Accounts in Deciles 1-3 with overage spend &gt; $15/mo OR severe usage drop (&gt;30%).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INTERVENTION OFFER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Automated SMS: 'Switch to our Unlimited Plan at zero penalty' + waive last month overage fee.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BUSINESS MECHANISM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Eliminates bill shock and re-engages customers whose usage has outgrown their legacy bucket.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EXPECTED CHURN LIFT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Reduces billing-friction churn by 20-25% while preserving baseline recurring revenue.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Pillar 3: SilentCare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VIP OUTREACH FOR SILENT DETRACTORS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TARGETING TRIGGER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High-value ARPU accounts (&gt;$60/mo) in Deciles 1-2 with zero customer care calls in 6 months.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INTERVENTION OFFER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Proactive concierge check-in call / digital survey with free data perk or loyalty streaming pack.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BUSINESS MECHANISM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Surfaces hidden network or billing grievances before customer silently defects.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EXPECTED CHURN LIFT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Reclaims 15-20% of high-value silent churners.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QUANTIFIED FINANCIAL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Quantified Business Case: Delivering $1.16M - $1.41M Net Profit (129%+ ROI)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 / Citation: Financial Simulation: 100k PoC Base &amp; 1M Enterprise Base; Retention Success Rate = 22.5%; ARPU = $58.72   |   Project SmartRetain: Telecom AI Transformation   |   Slide 13 of 15</a:t>
            </a:r>
          </a:p>
        </p:txBody>
      </p:sp>
      <p:pic>
        <p:nvPicPr>
          <p:cNvPr id="5" name="Picture 4" descr="business_proposal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85800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280160"/>
            <a:ext cx="356616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417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Financial ROI Economics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73736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F172A"/>
                </a:solidFill>
              </a:defRPr>
            </a:pPr>
            <a:r>
              <a:t>Target Cohort Size: 20,000 Accounts (Top 20%)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Baseline Churners in Target: 14,600 Accounts (73.0% Churn)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Retained Subscribers (22.5% Rate): 3,285 Accounts Saved / Year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Gross Revenue Saved: $2,314,742 / Year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Total Campaign Cost ($45/offer): $900,000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Net Annual Profit Lift: +$1,414,742 / Year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Net Program ROI: 157.2%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Payback Period: 4.7 Months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1,000,000 Subscriber Scale: +$14,147,418 Net Annual Profit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IMPLEMENTATION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Implementation Roadmap: From PoC to Enterprise Scale in 6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 / Citation: Consulting Delivery Framework: Agile MLOps Architecture &amp; Champion-Challenger Governance   |   Project SmartRetain: Telecom AI Transformation   |   Slide 14 of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Phase 1: Pilot &amp;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63EB"/>
                </a:solidFill>
              </a:defRPr>
            </a:pPr>
            <a:r>
              <a:t>MONTHS 1 - 2 (WEEKS 1 - 8)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DELIVERABLES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- Deploy HistGradientBoosting model into client sandbox.</a:t>
            </a:r>
            <a:br/>
            <a:r>
              <a:t>- Automated batch scoring pipeline with daily CRM sync.</a:t>
            </a:r>
            <a:br/>
            <a:r>
              <a:t>- Implement A/B testing framework (Champion ML vs Control).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TARGET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Pilot retention offers on 5,000 high-risk subscribers in top 3 geographic areas.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KPIS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Verify &gt;=20% retention lift; calibrate offer acceptance elasticity.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Phase 2: Operational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E3A8A"/>
                </a:solidFill>
              </a:defRPr>
            </a:pPr>
            <a:r>
              <a:t>MONTHS 3 - 4 (WEEKS 9 - 16)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DELIVERABLES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- Full enterprise integration with CRM (Salesforce/Amdocs) &amp; call center.</a:t>
            </a:r>
            <a:br/>
            <a:r>
              <a:t>- Automated SMS/Digital offer fulfillment.</a:t>
            </a:r>
            <a:br/>
            <a:r>
              <a:t>- Launch real-time usage-drop velocity alerts.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TARGET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Scale to all 20,000 Top Decile high-risk subscribers nationwide.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KPIS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Attain &gt;= $1.16M net run-rate annualized profit; payback &lt; 6 mos.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Phase 3: Continuous MLOps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MONTHS 5 - 6 (WEEKS 17 - 24)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DELIVERABLES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- Automated model retraining pipeline with drift detection (KS-test / PSI).</a:t>
            </a:r>
            <a:br/>
            <a:r>
              <a:t>- Expand feature store to include real-time app usage &amp; network telemetry.</a:t>
            </a:r>
            <a:br/>
            <a:r>
              <a:t>- Next-Best-Offer (NBO) reinforcement learning integration.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GOVERNANCE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Fairness &amp; bias audits across demographic segments; privacy compliance.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KPIS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Sustain &lt; 38% overall enterprise churn; continuous model ROI tracking.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INDUSTRY CITATIONS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References &amp; External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 / Citation: Compliant with Assignment Section 2-1 Academic Integrity &amp; Citation Standards   |   Project SmartRetain: Telecom AI Transformation   |   Slide 15 of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Complete Bibliography &amp; Data Attribution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b="1" sz="1050">
                <a:solidFill>
                  <a:srgbClr val="2563EB"/>
                </a:solidFill>
              </a:defRPr>
            </a:pPr>
            <a:r>
              <a:t>Academic Research on Churn &amp; Machine Learning: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1. Verbeke, W., Martens, D., Mues, C., &amp; Baesens, B. (2012). Building comprehensible customer churn prediction models with advanced rule induction techniques. Expert Systems with Applications, 39(3), 2354-2364.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2. Coussement, K., &amp; De Bock, K. W. (2013). Customer churn prediction in the telecommunications industry: A review and comparison of state-of-the-art machine learning algorithms. European Journal of Operational Research, 230(3), 575-585.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3. Ke, G., Meng, Q., Finley, T., Wang, T., Chen, W., Ma, W., ... &amp; Liu, T. Y. (2017). LightGBM: A highly efficient gradient boosting decision tree. Advances in Neural Information Processing Systems (NeurIPS 2017), 30, 3146-3154.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4. Burez, J., &amp; Van den Poel, D. (2009). Handling class imbalance in customer churn prediction. Expert Systems with Applications, 36(3), 4626-4636.</a:t>
            </a:r>
          </a:p>
          <a:p>
            <a:pPr>
              <a:spcBef>
                <a:spcPts val="400"/>
              </a:spcBef>
              <a:defRPr b="1" sz="1050">
                <a:solidFill>
                  <a:srgbClr val="2563EB"/>
                </a:solidFill>
              </a:defRPr>
            </a:pPr>
            <a:r>
              <a:t>Industry Reports &amp; Market Benchmarks: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5. Bain &amp; Company (2020). Prescription for Cutting Costs: The Value of Customer Retention. Bain Loyalty Practice Reports.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6. McKinsey &amp; Company (2021). The customer-retention imperative in telecommunications. Telecom, Media &amp; Technology Practice.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7. Gartner (2022). Market Guide for CSP Customer Experience and Churn Analytics Solutions. Gartner Research ID G00762104.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8. GSMA Intelligence (2023). Global Mobile Trends: Customer Lifecycle, Device Subsidies, and Churn Dynamics in Saturated Markets.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9. Federal Communications Commission (FCC) (2022). 2022 Annual Mobile Wireless Competition Report. FCC Staff Reports.</a:t>
            </a:r>
          </a:p>
          <a:p>
            <a:pPr>
              <a:spcBef>
                <a:spcPts val="400"/>
              </a:spcBef>
              <a:defRPr b="1" sz="1050">
                <a:solidFill>
                  <a:srgbClr val="2563EB"/>
                </a:solidFill>
              </a:defRPr>
            </a:pPr>
            <a:r>
              <a:t>PoC Client Datasets: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10. Client.csv &amp; Record.csv (2026). Telecommunications Customer Account &amp; Usage PoC Dataset (N=100,000 subscriber records; 101 raw attributes).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