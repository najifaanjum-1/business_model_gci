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60A5FA"/>
                </a:solidFill>
              </a:defRPr>
            </a:pPr>
            <a:r>
              <a:t>PROJECT SMARTRETAIN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 i="0">
                <a:solidFill>
                  <a:srgbClr val="FFFFFF"/>
                </a:solidFill>
              </a:defRPr>
            </a:pPr>
            <a:r>
              <a:t>Machine Learning-Driven Customer Retention</a:t>
            </a:r>
            <a:br/>
            <a:r>
              <a:t>&amp; Revenue Preservation 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15468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CBD5E1"/>
                </a:solidFill>
              </a:defRPr>
            </a:pPr>
            <a:r>
              <a:t>A Proof of Concept (PoC) Business Transformation Proposal for Executive Leadership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840480"/>
            <a:ext cx="10332720" cy="19202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4023360"/>
            <a:ext cx="97840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FFFFFF"/>
                </a:solidFill>
              </a:defRPr>
            </a:pPr>
            <a:r>
              <a:t>Prepared by: IT Consulting Associate — AI &amp; Data Science Practice</a:t>
            </a:r>
          </a:p>
          <a:p>
            <a:pPr>
              <a:spcAft>
                <a:spcPts val="500"/>
              </a:spcAft>
              <a:defRPr sz="1100" b="0">
                <a:solidFill>
                  <a:srgbClr val="CBD5E1"/>
                </a:solidFill>
              </a:defRPr>
            </a:pPr>
            <a:r>
              <a:t>Client: Telecommunications Provider  |  Engagement Type: PoC Machine Learning Project</a:t>
            </a:r>
          </a:p>
          <a:p>
            <a:pPr>
              <a:spcAft>
                <a:spcPts val="500"/>
              </a:spcAft>
              <a:defRPr sz="1100" b="0">
                <a:solidFill>
                  <a:srgbClr val="94A3B8"/>
                </a:solidFill>
              </a:defRPr>
            </a:pPr>
            <a:r>
              <a:t>Dataset: Client.csv + Record.csv  |  N = 100,000 customers  |  100 merged features</a:t>
            </a:r>
          </a:p>
          <a:p>
            <a:pPr>
              <a:spcAft>
                <a:spcPts val="500"/>
              </a:spcAft>
              <a:defRPr sz="1100" b="0">
                <a:solidFill>
                  <a:srgbClr val="94A3B8"/>
                </a:solidFill>
              </a:defRPr>
            </a:pPr>
            <a:r>
              <a:t>Stack: Python 3 · Scikit-Learn · HistGradientBoosting · RandomForest · Logistic Regression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327648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FFFFFF"/>
                </a:solidFill>
              </a:defRPr>
            </a:pPr>
            <a:r>
              <a:t>Confidential — For Executive Review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</a:defRPr>
            </a:pPr>
            <a:r>
              <a:t>Presentation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94A3B8"/>
                </a:solidFill>
              </a:defRPr>
            </a:pPr>
            <a:r>
              <a:t>How This Proposal Is Structured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74536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94A3B8"/>
                </a:solidFill>
              </a:defRPr>
            </a:pPr>
            <a:r>
              <a:t>Project SmartRetain  —  Confidential PoC Proposal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0" y="6574536"/>
            <a:ext cx="411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 i="0">
                <a:solidFill>
                  <a:srgbClr val="94A3B8"/>
                </a:solidFill>
              </a:defRPr>
            </a:pPr>
            <a:r>
              <a:t>2 / 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234440"/>
            <a:ext cx="1417320" cy="1508760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234440"/>
            <a:ext cx="1417320" cy="2560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1261872"/>
            <a:ext cx="1307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527048"/>
            <a:ext cx="12527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0F172A"/>
                </a:solidFill>
              </a:defRPr>
            </a:pPr>
            <a:r>
              <a:t>Executive Summary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920240"/>
            <a:ext cx="125272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 i="0">
                <a:solidFill>
                  <a:srgbClr val="64748B"/>
                </a:solidFill>
              </a:defRPr>
            </a:pPr>
            <a:r>
              <a:t>The burning platform, key findings &amp; business case at a glance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993392" y="1234440"/>
            <a:ext cx="1417320" cy="1508760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993392" y="1234440"/>
            <a:ext cx="1417320" cy="25603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66544" y="1261872"/>
            <a:ext cx="1307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84832" y="1527048"/>
            <a:ext cx="12527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0F172A"/>
                </a:solidFill>
              </a:defRPr>
            </a:pPr>
            <a:r>
              <a:t>Market &amp; Industry Context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84832" y="1920240"/>
            <a:ext cx="125272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 i="0">
                <a:solidFill>
                  <a:srgbClr val="64748B"/>
                </a:solidFill>
              </a:defRPr>
            </a:pPr>
            <a:r>
              <a:t>Telecom churn benchmarks, competitive landscape, external data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529584" y="1234440"/>
            <a:ext cx="1417320" cy="1508760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29584" y="1234440"/>
            <a:ext cx="1417320" cy="25603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02736" y="1261872"/>
            <a:ext cx="1307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21024" y="1527048"/>
            <a:ext cx="12527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0F172A"/>
                </a:solidFill>
              </a:defRPr>
            </a:pPr>
            <a:r>
              <a:t>Data &amp; EDA Overview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21024" y="1920240"/>
            <a:ext cx="125272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 i="0">
                <a:solidFill>
                  <a:srgbClr val="64748B"/>
                </a:solidFill>
              </a:defRPr>
            </a:pPr>
            <a:r>
              <a:t>Dataset profile, data quality, financial baseline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65776" y="1234440"/>
            <a:ext cx="1417320" cy="1508760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65776" y="1234440"/>
            <a:ext cx="1417320" cy="25603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38928" y="1261872"/>
            <a:ext cx="1307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57216" y="1527048"/>
            <a:ext cx="12527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0F172A"/>
                </a:solidFill>
              </a:defRPr>
            </a:pPr>
            <a:r>
              <a:t>Root-Cause Analysis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57216" y="1920240"/>
            <a:ext cx="125272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 i="0">
                <a:solidFill>
                  <a:srgbClr val="64748B"/>
                </a:solidFill>
              </a:defRPr>
            </a:pPr>
            <a:r>
              <a:t>Equipment, billing, behavioral &amp; tenure drivers of churn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01968" y="1234440"/>
            <a:ext cx="1417320" cy="1508760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601968" y="1234440"/>
            <a:ext cx="1417320" cy="2560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75120" y="1261872"/>
            <a:ext cx="1307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93408" y="1527048"/>
            <a:ext cx="12527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0F172A"/>
                </a:solidFill>
              </a:defRPr>
            </a:pPr>
            <a:r>
              <a:t>Machine Learning Models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93408" y="1920240"/>
            <a:ext cx="125272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 i="0">
                <a:solidFill>
                  <a:srgbClr val="64748B"/>
                </a:solidFill>
              </a:defRPr>
            </a:pPr>
            <a:r>
              <a:t>Model selection, training, benchmark scorecard &amp; decile lift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38160" y="1234440"/>
            <a:ext cx="1417320" cy="1508760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138160" y="1234440"/>
            <a:ext cx="1417320" cy="2560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11312" y="1261872"/>
            <a:ext cx="1307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0" y="1527048"/>
            <a:ext cx="12527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0F172A"/>
                </a:solidFill>
              </a:defRPr>
            </a:pPr>
            <a:r>
              <a:t>Business Proposal &amp; ROI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0" y="1920240"/>
            <a:ext cx="125272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 i="0">
                <a:solidFill>
                  <a:srgbClr val="64748B"/>
                </a:solidFill>
              </a:defRPr>
            </a:pPr>
            <a:r>
              <a:t>Targeted strategy, quantified revenue impact, implementation plan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674352" y="1234440"/>
            <a:ext cx="1417320" cy="1508760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674352" y="1234440"/>
            <a:ext cx="1417320" cy="25603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747504" y="1261872"/>
            <a:ext cx="13075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</a:defRPr>
            </a:pPr>
            <a:r>
              <a:t>07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65792" y="1527048"/>
            <a:ext cx="12527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0F172A"/>
                </a:solidFill>
              </a:defRPr>
            </a:pPr>
            <a:r>
              <a:t>References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65792" y="1920240"/>
            <a:ext cx="1252728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 i="0">
                <a:solidFill>
                  <a:srgbClr val="64748B"/>
                </a:solidFill>
              </a:defRPr>
            </a:pPr>
            <a:r>
              <a:t>All external data, papers, and benchmarks cited in this report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2944368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1">
                <a:solidFill>
                  <a:srgbClr val="64748B"/>
                </a:solidFill>
              </a:defRPr>
            </a:pPr>
            <a:r>
              <a:t>Each section builds logically from data evidence through to a quantified business recommendation.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</a:defRPr>
            </a:pPr>
            <a: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94A3B8"/>
                </a:solidFill>
              </a:defRPr>
            </a:pPr>
            <a:r>
              <a:t>Key Findings, ML Results &amp; Quantified Business Case — One Page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74536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94A3B8"/>
                </a:solidFill>
              </a:defRPr>
            </a:pPr>
            <a:r>
              <a:t>Source: Internal PoC Analysis (Client.csv + Record.csv, N=100,000)   |   Project SmartRetain  —  Confidential PoC Proposal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0" y="6574536"/>
            <a:ext cx="411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 i="0">
                <a:solidFill>
                  <a:srgbClr val="94A3B8"/>
                </a:solidFill>
              </a:defRPr>
            </a:pPr>
            <a:r>
              <a:t>3 / 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188720"/>
            <a:ext cx="2651760" cy="47548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1188720"/>
            <a:ext cx="2651760" cy="2743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225296"/>
            <a:ext cx="24871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 i="0">
                <a:solidFill>
                  <a:srgbClr val="FFFFFF"/>
                </a:solidFill>
              </a:defRPr>
            </a:pPr>
            <a:r>
              <a:t>The Burning Platform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496" y="1536192"/>
            <a:ext cx="241401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DC2626"/>
                </a:solidFill>
              </a:defRPr>
            </a:pPr>
            <a:r>
              <a:t>CHURN RATE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49.56%</a:t>
            </a:r>
          </a:p>
          <a:p>
            <a:pPr>
              <a:defRPr sz="850" b="1">
                <a:solidFill>
                  <a:srgbClr val="DC2626"/>
                </a:solidFill>
              </a:defRPr>
            </a:pPr>
            <a:r>
              <a:t>ANNUAL REVENUE AT RISK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$34.45 Million</a:t>
            </a:r>
          </a:p>
          <a:p>
            <a:pPr>
              <a:defRPr sz="850" b="1">
                <a:solidFill>
                  <a:srgbClr val="DC2626"/>
                </a:solidFill>
              </a:defRPr>
            </a:pPr>
            <a:r>
              <a:t>CORE CHALLENGE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100k customer records; no in-house ML to flag at-risk customers before cancellation.</a:t>
            </a:r>
          </a:p>
          <a:p>
            <a:pPr>
              <a:defRPr sz="850" b="1">
                <a:solidFill>
                  <a:srgbClr val="DC2626"/>
                </a:solidFill>
              </a:defRPr>
            </a:pPr>
            <a:r>
              <a:t>STRATEGIC RISK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Acquiring new subscribers costs 5-7x more than retaining existing ones ($315 CAC vs $45 retention offer).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19272" y="1188720"/>
            <a:ext cx="2651760" cy="47548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19272" y="1188720"/>
            <a:ext cx="2651760" cy="274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10712" y="1225296"/>
            <a:ext cx="24871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 i="0">
                <a:solidFill>
                  <a:srgbClr val="FFFFFF"/>
                </a:solidFill>
              </a:defRPr>
            </a:pPr>
            <a:r>
              <a:t>ML PoC Results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47288" y="1536192"/>
            <a:ext cx="241401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2563EB"/>
                </a:solidFill>
              </a:defRPr>
            </a:pPr>
            <a:r>
              <a:t>PRIMARY MODEL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HistGradientBoosting</a:t>
            </a:r>
          </a:p>
          <a:p>
            <a:pPr>
              <a:defRPr sz="850" b="1">
                <a:solidFill>
                  <a:srgbClr val="2563EB"/>
                </a:solidFill>
              </a:defRPr>
            </a:pPr>
            <a:r>
              <a:t>EVALUATION METRIC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ROC-AUC</a:t>
            </a:r>
          </a:p>
          <a:p>
            <a:pPr>
              <a:defRPr sz="850" b="1">
                <a:solidFill>
                  <a:srgbClr val="2563EB"/>
                </a:solidFill>
              </a:defRPr>
            </a:pPr>
            <a:r>
              <a:t>SCORE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0.6913</a:t>
            </a:r>
          </a:p>
          <a:p>
            <a:pPr>
              <a:defRPr sz="850" b="1">
                <a:solidFill>
                  <a:srgbClr val="2563EB"/>
                </a:solidFill>
              </a:defRPr>
            </a:pPr>
            <a:r>
              <a:t>DECILE-1 CHURN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79.85% (1.61x lift over random)</a:t>
            </a:r>
          </a:p>
          <a:p>
            <a:pPr>
              <a:defRPr sz="850" b="1">
                <a:solidFill>
                  <a:srgbClr val="2563EB"/>
                </a:solidFill>
              </a:defRPr>
            </a:pPr>
            <a:r>
              <a:t>KEY FINDING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Top 20% of predicted-risk customers contain 30% of all churners — 1.48x precision gain.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27064" y="1188720"/>
            <a:ext cx="2651760" cy="47548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27064" y="1188720"/>
            <a:ext cx="2651760" cy="2743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18504" y="1225296"/>
            <a:ext cx="24871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 i="0">
                <a:solidFill>
                  <a:srgbClr val="FFFFFF"/>
                </a:solidFill>
              </a:defRPr>
            </a:pPr>
            <a:r>
              <a:t>Root-Cause Drivers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1536192"/>
            <a:ext cx="241401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1E3A8A"/>
                </a:solidFill>
              </a:defRPr>
            </a:pPr>
            <a:r>
              <a:t>DEVICE OBSOLESCENCE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Equipment &gt;2 yrs: 57.9% churn vs 41.8% baseline (+16.1pp)</a:t>
            </a:r>
          </a:p>
          <a:p>
            <a:pPr>
              <a:defRPr sz="850" b="1">
                <a:solidFill>
                  <a:srgbClr val="1E3A8A"/>
                </a:solidFill>
              </a:defRPr>
            </a:pPr>
            <a:r>
              <a:t>SILENT CHURNERS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0 support calls = 51.8% churn — customers leave without warning</a:t>
            </a:r>
          </a:p>
          <a:p>
            <a:pPr>
              <a:defRPr sz="850" b="1">
                <a:solidFill>
                  <a:srgbClr val="1E3A8A"/>
                </a:solidFill>
              </a:defRPr>
            </a:pPr>
            <a:r>
              <a:t>BILL SHOCK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Overage &gt;$30 drives churn above 52.6%</a:t>
            </a:r>
          </a:p>
          <a:p>
            <a:pPr>
              <a:defRPr sz="850" b="1">
                <a:solidFill>
                  <a:srgbClr val="1E3A8A"/>
                </a:solidFill>
              </a:defRPr>
            </a:pPr>
            <a:r>
              <a:t>CONTRACT CLIFF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Peak churn: months 13–18 (renewal window)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34856" y="1188720"/>
            <a:ext cx="2651760" cy="47548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34856" y="1188720"/>
            <a:ext cx="2651760" cy="2743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26296" y="1225296"/>
            <a:ext cx="24871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 i="0">
                <a:solidFill>
                  <a:srgbClr val="FFFFFF"/>
                </a:solidFill>
              </a:defRPr>
            </a:pPr>
            <a:r>
              <a:t>Business Case ROI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62872" y="1536192"/>
            <a:ext cx="241401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10B981"/>
                </a:solidFill>
              </a:defRPr>
            </a:pPr>
            <a:r>
              <a:t>TARGET COHORT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Top 20% — 20,000 accounts</a:t>
            </a:r>
          </a:p>
          <a:p>
            <a:pPr>
              <a:defRPr sz="850" b="1">
                <a:solidFill>
                  <a:srgbClr val="10B981"/>
                </a:solidFill>
              </a:defRPr>
            </a:pPr>
            <a:r>
              <a:t>SAVED CUSTOMERS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3,285 accounts / year (22.5% save rate)</a:t>
            </a:r>
          </a:p>
          <a:p>
            <a:pPr>
              <a:defRPr sz="850" b="1">
                <a:solidFill>
                  <a:srgbClr val="10B981"/>
                </a:solidFill>
              </a:defRPr>
            </a:pPr>
            <a:r>
              <a:t>GROSS REV PRESERVED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$2,314,742 / year</a:t>
            </a:r>
          </a:p>
          <a:p>
            <a:pPr>
              <a:defRPr sz="850" b="1">
                <a:solidFill>
                  <a:srgbClr val="10B981"/>
                </a:solidFill>
              </a:defRPr>
            </a:pPr>
            <a:r>
              <a:t>CAMPAIGN COST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$900,000 ($45 per offer)</a:t>
            </a:r>
          </a:p>
          <a:p>
            <a:pPr>
              <a:defRPr sz="850" b="1">
                <a:solidFill>
                  <a:srgbClr val="10B981"/>
                </a:solidFill>
              </a:defRPr>
            </a:pPr>
            <a:r>
              <a:t>NET PROFIT LIFT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+$1,414,742 / year</a:t>
            </a:r>
          </a:p>
          <a:p>
            <a:pPr>
              <a:defRPr sz="850" b="1">
                <a:solidFill>
                  <a:srgbClr val="10B981"/>
                </a:solidFill>
              </a:defRPr>
            </a:pPr>
            <a:r>
              <a:t>ROI</a:t>
            </a:r>
          </a:p>
          <a:p>
            <a:pPr>
              <a:spcAft>
                <a:spcPts val="600"/>
              </a:spcAft>
              <a:defRPr sz="1050">
                <a:solidFill>
                  <a:srgbClr val="0F172A"/>
                </a:solidFill>
              </a:defRPr>
            </a:pPr>
            <a:r>
              <a:t>157% — Payback: 4.7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</a:defRPr>
            </a:pPr>
            <a:r>
              <a:t>Market &amp; Industry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94A3B8"/>
                </a:solidFill>
              </a:defRPr>
            </a:pPr>
            <a:r>
              <a:t>The Economics of Retention in a Saturated Telecom Market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74536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94A3B8"/>
                </a:solidFill>
              </a:defRPr>
            </a:pPr>
            <a:r>
              <a:t>Source: McKinsey (2021); Bain &amp; Co. (2020); GSMA Intelligence (2023); Ericsson Mobility Report (2024)   |   Project SmartRetain  —  Confidential PoC Proposal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0" y="6574536"/>
            <a:ext cx="411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 i="0">
                <a:solidFill>
                  <a:srgbClr val="94A3B8"/>
                </a:solidFill>
              </a:defRPr>
            </a:pPr>
            <a:r>
              <a:t>4 / 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188720"/>
            <a:ext cx="5303520" cy="5029200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" y="1316736"/>
            <a:ext cx="4974336" cy="4828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3A8A"/>
                </a:solidFill>
              </a:defRPr>
            </a:pPr>
            <a:r>
              <a:t>Telecommunications Macro Context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  •  Global mobile subscriber growth has flattened at ~1-2% CAGR in mature markets (GSMA, 2023).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  •  U.S. wireless market penetration exceeds 95%; growth now driven by ARPU uplift, not new subs.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  •  Average annual churn in U.S. telecom: 20-35% postpaid; up to 50%+ for prepaid (FCC, 2022).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  •  Customer Acquisition Cost (CAC): $300-$400 per new subscriber (McKinsey, 2021).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  •  Retention cost: $30-$60 per saved customer via targeted intervention (Bain &amp; Co., 2020).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  •  A 5% reduction in churn increases profit by 25-95% in subscription businesses (Bain, 2020).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  •  Proactive ML-guided retention programs save 20-30% of targeted at-risk customers (McKinsey, 2021).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1188720"/>
            <a:ext cx="5760720" cy="1115568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99632" y="1316736"/>
            <a:ext cx="5431536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DC2626"/>
                </a:solidFill>
              </a:defRPr>
            </a:pPr>
            <a:r>
              <a:t>INDUSTRY AVG CHURN (U.S. POSTPAID)</a:t>
            </a:r>
          </a:p>
          <a:p>
            <a:pPr>
              <a:defRPr sz="1800" b="1">
                <a:solidFill>
                  <a:srgbClr val="DC2626"/>
                </a:solidFill>
              </a:defRPr>
            </a:pPr>
            <a:r>
              <a:t>20 - 35%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vs. Client's 49.56%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2450592"/>
            <a:ext cx="5760720" cy="1115568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99632" y="2578608"/>
            <a:ext cx="5431536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D97706"/>
                </a:solidFill>
              </a:defRPr>
            </a:pPr>
            <a:r>
              <a:t>CAC VS RETENTION COST RATIO</a:t>
            </a:r>
          </a:p>
          <a:p>
            <a:pPr>
              <a:defRPr sz="1800" b="1">
                <a:solidFill>
                  <a:srgbClr val="D97706"/>
                </a:solidFill>
              </a:defRPr>
            </a:pPr>
            <a:r>
              <a:t>5 - 7x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New sub costs 5-7x more to acquire than retain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5040" y="3712464"/>
            <a:ext cx="5760720" cy="1115568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99632" y="3840480"/>
            <a:ext cx="5431536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10B981"/>
                </a:solidFill>
              </a:defRPr>
            </a:pPr>
            <a:r>
              <a:t>PROFIT LIFT FROM 5% CHURN REDUCTION</a:t>
            </a:r>
          </a:p>
          <a:p>
            <a:pPr>
              <a:defRPr sz="1800" b="1">
                <a:solidFill>
                  <a:srgbClr val="10B981"/>
                </a:solidFill>
              </a:defRPr>
            </a:pPr>
            <a:r>
              <a:t>25 - 95%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Compounding effect on LTV (Bain &amp; Co., 2020)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0" y="4974336"/>
            <a:ext cx="5760720" cy="1115568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99632" y="5102352"/>
            <a:ext cx="5431536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2563EB"/>
                </a:solidFill>
              </a:defRPr>
            </a:pPr>
            <a:r>
              <a:t>ML RETENTION SAVE RATE (INDUSTRY)</a:t>
            </a:r>
          </a:p>
          <a:p>
            <a:pPr>
              <a:defRPr sz="1800" b="1">
                <a:solidFill>
                  <a:srgbClr val="2563EB"/>
                </a:solidFill>
              </a:defRPr>
            </a:pPr>
            <a:r>
              <a:t>20 - 30%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Of targeted high-risk customers saved via proactive offer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</a:defRPr>
            </a:pPr>
            <a:r>
              <a:t>Dataset Profile &amp; EDA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94A3B8"/>
                </a:solidFill>
              </a:defRPr>
            </a:pPr>
            <a:r>
              <a:t>100,000 Customer Records | 100 Merged Features | 49.56% Churn Rate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74536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94A3B8"/>
                </a:solidFill>
              </a:defRPr>
            </a:pPr>
            <a:r>
              <a:t>Source: Internal PoC Dataset: Client.csv + Record.csv (merged on Customer_ID)   |   Project SmartRetain  —  Confidential PoC Proposal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0" y="6574536"/>
            <a:ext cx="411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 i="0">
                <a:solidFill>
                  <a:srgbClr val="94A3B8"/>
                </a:solidFill>
              </a:defRPr>
            </a:pPr>
            <a:r>
              <a:t>5 / 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170432"/>
            <a:ext cx="1737360" cy="914400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" y="1298448"/>
            <a:ext cx="140817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2563EB"/>
                </a:solidFill>
              </a:defRPr>
            </a:pPr>
            <a:r>
              <a:t>TOTAL CUSTOMERS</a:t>
            </a:r>
          </a:p>
          <a:p>
            <a:pPr>
              <a:defRPr sz="1800" b="1">
                <a:solidFill>
                  <a:srgbClr val="2563EB"/>
                </a:solidFill>
              </a:defRPr>
            </a:pPr>
            <a:r>
              <a:t>100,000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Merged from Client + Record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04288" y="1170432"/>
            <a:ext cx="1737360" cy="914400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68880" y="1298448"/>
            <a:ext cx="140817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1E3A8A"/>
                </a:solidFill>
              </a:defRPr>
            </a:pPr>
            <a:r>
              <a:t>TOTAL FEATURES</a:t>
            </a:r>
          </a:p>
          <a:p>
            <a:pPr>
              <a:defRPr sz="1800" b="1">
                <a:solidFill>
                  <a:srgbClr val="1E3A8A"/>
                </a:solidFill>
              </a:defRPr>
            </a:pPr>
            <a:r>
              <a:t>100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50 client + 50 usage/billing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97096" y="1170432"/>
            <a:ext cx="1737360" cy="914400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61688" y="1298448"/>
            <a:ext cx="140817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DC2626"/>
                </a:solidFill>
              </a:defRPr>
            </a:pPr>
            <a:r>
              <a:t>OVERALL CHURN</a:t>
            </a:r>
          </a:p>
          <a:p>
            <a:pPr>
              <a:defRPr sz="1800" b="1">
                <a:solidFill>
                  <a:srgbClr val="DC2626"/>
                </a:solidFill>
              </a:defRPr>
            </a:pPr>
            <a:r>
              <a:t>49.56%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49,562 churned customers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89904" y="1170432"/>
            <a:ext cx="1737360" cy="914400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54496" y="1298448"/>
            <a:ext cx="140817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D97706"/>
                </a:solidFill>
              </a:defRPr>
            </a:pPr>
            <a:r>
              <a:t>MISSING DATA</a:t>
            </a:r>
          </a:p>
          <a:p>
            <a:pPr>
              <a:defRPr sz="1800" b="1">
                <a:solidFill>
                  <a:srgbClr val="D97706"/>
                </a:solidFill>
              </a:defRPr>
            </a:pPr>
            <a:r>
              <a:t>3.43%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43 of 100 columns have NaN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82712" y="1170432"/>
            <a:ext cx="1737360" cy="914400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47304" y="1298448"/>
            <a:ext cx="140817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10B981"/>
                </a:solidFill>
              </a:defRPr>
            </a:pPr>
            <a:r>
              <a:t>DUPLICATE IDS</a:t>
            </a:r>
          </a:p>
          <a:p>
            <a:pPr>
              <a:defRPr sz="1800" b="1">
                <a:solidFill>
                  <a:srgbClr val="10B981"/>
                </a:solidFill>
              </a:defRPr>
            </a:pPr>
            <a:r>
              <a:t>0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No duplicate Customer_IDs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875520" y="1170432"/>
            <a:ext cx="1737360" cy="914400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40112" y="1298448"/>
            <a:ext cx="140817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D9488"/>
                </a:solidFill>
              </a:defRPr>
            </a:pPr>
            <a:r>
              <a:t>NUMERIC / CAT</a:t>
            </a:r>
          </a:p>
          <a:p>
            <a:pPr>
              <a:defRPr sz="1800" b="1">
                <a:solidFill>
                  <a:srgbClr val="0D9488"/>
                </a:solidFill>
              </a:defRPr>
            </a:pPr>
            <a:r>
              <a:t>82 / 21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After feature engineering</a:t>
            </a:r>
          </a:p>
        </p:txBody>
      </p:sp>
      <p:pic>
        <p:nvPicPr>
          <p:cNvPr id="21" name="Picture 20" descr="fig1_eda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212848"/>
            <a:ext cx="11365992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</a:defRPr>
            </a:pPr>
            <a:r>
              <a:t>Root-Cause Analysis: Hardware &amp; Device Obsolescence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94A3B8"/>
                </a:solidFill>
              </a:defRPr>
            </a:pPr>
            <a:r>
              <a:t>Older &amp; Budget Devices Are the #1 Structural Driver of Churn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74536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94A3B8"/>
                </a:solidFill>
              </a:defRPr>
            </a:pPr>
            <a:r>
              <a:t>Source: Internal PoC Dataset: Client.csv (eqpdays, hnd_price, hnd_webcap, refurb_new)   |   Project SmartRetain  —  Confidential PoC Proposal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0" y="6574536"/>
            <a:ext cx="411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 i="0">
                <a:solidFill>
                  <a:srgbClr val="94A3B8"/>
                </a:solidFill>
              </a:defRPr>
            </a:pPr>
            <a:r>
              <a:t>6 / 15</a:t>
            </a:r>
          </a:p>
        </p:txBody>
      </p:sp>
      <p:pic>
        <p:nvPicPr>
          <p:cNvPr id="9" name="Picture 8" descr="fig2_equipment_driv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70432"/>
            <a:ext cx="7772400" cy="534924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366760" y="1170432"/>
            <a:ext cx="3657600" cy="5349240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31352" y="1298448"/>
            <a:ext cx="3328416" cy="5148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Key Device Insights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  •  Devices &gt;2 years old: 57.9% churn — +16.1pp above average.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  •  Budget handsets ($1-$50): 57.5% churn vs 41.0% for premium (&gt;$150).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  •  Legacy non-web handsets (WC code): churn rate significantly above web-enabled (WCMB).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  •  Refurbished handsets churn ~4.5pp higher than new devices.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  •  Implication: Hardware upgrade offers targeting aged-device users are the highest-ROI single intervention.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</a:defRPr>
            </a:pPr>
            <a:r>
              <a:t>Root-Cause Analysis: Behavioral &amp; Billing Signals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94A3B8"/>
                </a:solidFill>
              </a:defRPr>
            </a:pPr>
            <a:r>
              <a:t>Silent Disengagement + Bill Shock = Invisible Churn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74536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94A3B8"/>
                </a:solidFill>
              </a:defRPr>
            </a:pPr>
            <a:r>
              <a:t>Source: Internal PoC Dataset: Record.csv (custcare_Mean, change_mou, ovrrev_Mean)   |   Project SmartRetain  —  Confidential PoC Proposal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0" y="6574536"/>
            <a:ext cx="411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 i="0">
                <a:solidFill>
                  <a:srgbClr val="94A3B8"/>
                </a:solidFill>
              </a:defRPr>
            </a:pPr>
            <a:r>
              <a:t>7 / 15</a:t>
            </a:r>
          </a:p>
        </p:txBody>
      </p:sp>
      <p:pic>
        <p:nvPicPr>
          <p:cNvPr id="9" name="Picture 8" descr="fig3_behavioral_bil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70432"/>
            <a:ext cx="7772400" cy="38404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11480" y="5138928"/>
            <a:ext cx="3566160" cy="146304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9496" y="5230368"/>
            <a:ext cx="33284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DC2626"/>
                </a:solidFill>
              </a:defRPr>
            </a:pPr>
            <a:r>
              <a:t>Silent Churner Paradox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496" y="5541264"/>
            <a:ext cx="332841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0F172A"/>
                </a:solidFill>
              </a:defRPr>
            </a:pPr>
            <a:r>
              <a:t>55,692 customers (55.7%) made ZERO support calls yet churn at 51.8%. Customers leave silently — waiting for a complaint is too late.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78808" y="5138928"/>
            <a:ext cx="3566160" cy="146304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06824" y="5230368"/>
            <a:ext cx="33284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D97706"/>
                </a:solidFill>
              </a:defRPr>
            </a:pPr>
            <a:r>
              <a:t>Usage Contraction Signal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06824" y="5541264"/>
            <a:ext cx="332841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0F172A"/>
                </a:solidFill>
              </a:defRPr>
            </a:pPr>
            <a:r>
              <a:t>Customers whose MOU drops &gt;100 min/month churn at 53.6%. Declining engagement is a reliable 30-60 day leading indicator.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46136" y="5138928"/>
            <a:ext cx="3566160" cy="146304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5230368"/>
            <a:ext cx="33284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 i="0">
                <a:solidFill>
                  <a:srgbClr val="2563EB"/>
                </a:solidFill>
              </a:defRPr>
            </a:pPr>
            <a:r>
              <a:t>Bill Shock Effect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74152" y="5541264"/>
            <a:ext cx="3328416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0F172A"/>
                </a:solidFill>
              </a:defRPr>
            </a:pPr>
            <a:r>
              <a:t>Overage charges &gt;$30/month push churn above 52.6%. Proactive plan right-sizing or overage caps can directly reduce this friction.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</a:defRPr>
            </a:pPr>
            <a:r>
              <a:t>Root-Cause Analysis: Tenure Lifecycle &amp; Feature Correlation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94A3B8"/>
                </a:solidFill>
              </a:defRPr>
            </a:pPr>
            <a:r>
              <a:t>Contract Renewal Windows Create Predictable Churn Cliffs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74536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94A3B8"/>
                </a:solidFill>
              </a:defRPr>
            </a:pPr>
            <a:r>
              <a:t>Source: Internal PoC Dataset: Record.csv (months); Correlation: all numeric features   |   Project SmartRetain  —  Confidential PoC Proposal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0" y="6574536"/>
            <a:ext cx="411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 i="0">
                <a:solidFill>
                  <a:srgbClr val="94A3B8"/>
                </a:solidFill>
              </a:defRPr>
            </a:pPr>
            <a:r>
              <a:t>8 / 15</a:t>
            </a:r>
          </a:p>
        </p:txBody>
      </p:sp>
      <p:pic>
        <p:nvPicPr>
          <p:cNvPr id="9" name="Picture 8" descr="fig4_ten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70432"/>
            <a:ext cx="5943600" cy="5349240"/>
          </a:xfrm>
          <a:prstGeom prst="rect">
            <a:avLst/>
          </a:prstGeom>
        </p:spPr>
      </p:pic>
      <p:pic>
        <p:nvPicPr>
          <p:cNvPr id="10" name="Picture 9" descr="fig6_correlation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170432"/>
            <a:ext cx="5285232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</a:defRPr>
            </a:pPr>
            <a:r>
              <a:t>Machine Learning: Model Selection &amp; Rationale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94A3B8"/>
                </a:solidFill>
              </a:defRPr>
            </a:pPr>
            <a:r>
              <a:t>Why Three Models? Benchmark Diversity Ensures Robust Recommendation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74536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94A3B8"/>
                </a:solidFill>
              </a:defRPr>
            </a:pPr>
            <a:r>
              <a:t>Source: Scikit-Learn 1.x Documentation; Friedman (2001) Gradient Boosting; Breiman (2001) Random Forests   |   Project SmartRetain  —  Confidential PoC Proposal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0" y="6574536"/>
            <a:ext cx="411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 i="0">
                <a:solidFill>
                  <a:srgbClr val="94A3B8"/>
                </a:solidFill>
              </a:defRPr>
            </a:pPr>
            <a:r>
              <a:t>9 / 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188720"/>
            <a:ext cx="3474720" cy="50749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1188720"/>
            <a:ext cx="3474720" cy="2926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1208" y="1225296"/>
            <a:ext cx="3273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 i="0">
                <a:solidFill>
                  <a:srgbClr val="FFFFFF"/>
                </a:solidFill>
              </a:defRPr>
            </a:pPr>
            <a:r>
              <a:t>Model 1 (Primary)</a:t>
            </a:r>
            <a:br/>
            <a:r>
              <a:t>HistGradientBoosting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496" y="1572768"/>
            <a:ext cx="3236976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50" b="0">
                <a:solidFill>
                  <a:srgbClr val="0F172A"/>
                </a:solidFill>
              </a:defRPr>
            </a:pPr>
            <a:r>
              <a:t>•  Type: Gradient Boosted Decision Trees (LightGBM-style)</a:t>
            </a:r>
          </a:p>
          <a:p>
            <a:pPr>
              <a:spcAft>
                <a:spcPts val="500"/>
              </a:spcAft>
              <a:defRPr sz="950" b="0">
                <a:solidFill>
                  <a:srgbClr val="0F172A"/>
                </a:solidFill>
              </a:defRPr>
            </a:pPr>
            <a:r>
              <a:t>•  Why chosen: Handles missing values natively, strong performance on tabular data, regularisation via learning rate &amp; leaf constraints.</a:t>
            </a:r>
          </a:p>
          <a:p>
            <a:pPr>
              <a:spcAft>
                <a:spcPts val="500"/>
              </a:spcAft>
              <a:defRPr sz="950" b="0">
                <a:solidFill>
                  <a:srgbClr val="0F172A"/>
                </a:solidFill>
              </a:defRPr>
            </a:pPr>
            <a:r>
              <a:t>•  Hyperparams: max_iter=150, lr=0.08, max_leaf_nodes=31, min_samples_leaf=30</a:t>
            </a:r>
          </a:p>
          <a:p>
            <a:pPr>
              <a:spcAft>
                <a:spcPts val="500"/>
              </a:spcAft>
              <a:defRPr sz="1050" b="1">
                <a:solidFill>
                  <a:srgbClr val="2563EB"/>
                </a:solidFill>
              </a:defRPr>
            </a:pPr>
            <a:r>
              <a:t>•  ROC-AUC = 0.6913  |  PR-AUC = 0.6836</a:t>
            </a:r>
          </a:p>
          <a:p>
            <a:pPr>
              <a:spcAft>
                <a:spcPts val="500"/>
              </a:spcAft>
              <a:defRPr sz="1050" b="1">
                <a:solidFill>
                  <a:srgbClr val="2563EB"/>
                </a:solidFill>
              </a:defRPr>
            </a:pPr>
            <a:r>
              <a:t>•  Accuracy = 63.50%  |  F1 = 0.6347</a:t>
            </a:r>
          </a:p>
          <a:p>
            <a:pPr>
              <a:spcAft>
                <a:spcPts val="500"/>
              </a:spcAft>
              <a:defRPr sz="1050" b="1">
                <a:solidFill>
                  <a:srgbClr val="2563EB"/>
                </a:solidFill>
              </a:defRPr>
            </a:pPr>
            <a:r>
              <a:t>•  Train time: 12.93s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87368" y="1188720"/>
            <a:ext cx="3474720" cy="50749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087368" y="1188720"/>
            <a:ext cx="3474720" cy="2926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97096" y="1225296"/>
            <a:ext cx="3273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 i="0">
                <a:solidFill>
                  <a:srgbClr val="FFFFFF"/>
                </a:solidFill>
              </a:defRPr>
            </a:pPr>
            <a:r>
              <a:t>Model 2 (Benchmark)</a:t>
            </a:r>
            <a:br/>
            <a:r>
              <a:t>RandomForestClassifier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15384" y="1572768"/>
            <a:ext cx="3236976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50" b="0">
                <a:solidFill>
                  <a:srgbClr val="0F172A"/>
                </a:solidFill>
              </a:defRPr>
            </a:pPr>
            <a:r>
              <a:t>•  Type: Ensemble of 100 Decision Trees (Bagging)</a:t>
            </a:r>
          </a:p>
          <a:p>
            <a:pPr>
              <a:spcAft>
                <a:spcPts val="500"/>
              </a:spcAft>
              <a:defRPr sz="950" b="0">
                <a:solidFill>
                  <a:srgbClr val="0F172A"/>
                </a:solidFill>
              </a:defRPr>
            </a:pPr>
            <a:r>
              <a:t>•  Why chosen: Naturally handles non-linearity, robust to outliers, interpretable via feature importance.</a:t>
            </a:r>
          </a:p>
          <a:p>
            <a:pPr>
              <a:spcAft>
                <a:spcPts val="500"/>
              </a:spcAft>
              <a:defRPr sz="950" b="0">
                <a:solidFill>
                  <a:srgbClr val="0F172A"/>
                </a:solidFill>
              </a:defRPr>
            </a:pPr>
            <a:r>
              <a:t>•  Hyperparams: n_estimators=100, max_depth=12, min_samples_leaf=20</a:t>
            </a:r>
          </a:p>
          <a:p>
            <a:pPr>
              <a:spcAft>
                <a:spcPts val="500"/>
              </a:spcAft>
              <a:defRPr sz="1050" b="1">
                <a:solidFill>
                  <a:srgbClr val="0D9488"/>
                </a:solidFill>
              </a:defRPr>
            </a:pPr>
            <a:r>
              <a:t>•  ROC-AUC = 0.6746  |  PR-AUC = 0.6636</a:t>
            </a:r>
          </a:p>
          <a:p>
            <a:pPr>
              <a:spcAft>
                <a:spcPts val="500"/>
              </a:spcAft>
              <a:defRPr sz="1050" b="1">
                <a:solidFill>
                  <a:srgbClr val="0D9488"/>
                </a:solidFill>
              </a:defRPr>
            </a:pPr>
            <a:r>
              <a:t>•  Accuracy = 62.04%  |  F1 = 0.6261</a:t>
            </a:r>
          </a:p>
          <a:p>
            <a:pPr>
              <a:spcAft>
                <a:spcPts val="500"/>
              </a:spcAft>
              <a:defRPr sz="1050" b="1">
                <a:solidFill>
                  <a:srgbClr val="0D9488"/>
                </a:solidFill>
              </a:defRPr>
            </a:pPr>
            <a:r>
              <a:t>•  Train time: 14.42s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63256" y="1188720"/>
            <a:ext cx="3474720" cy="50749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63256" y="1188720"/>
            <a:ext cx="3474720" cy="2926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72984" y="1225296"/>
            <a:ext cx="327355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 i="0">
                <a:solidFill>
                  <a:srgbClr val="FFFFFF"/>
                </a:solidFill>
              </a:defRPr>
            </a:pPr>
            <a:r>
              <a:t>Model 3 (Baseline)</a:t>
            </a:r>
            <a:br/>
            <a:r>
              <a:t>LogisticRegression (L2)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91272" y="1572768"/>
            <a:ext cx="3236976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950" b="0">
                <a:solidFill>
                  <a:srgbClr val="0F172A"/>
                </a:solidFill>
              </a:defRPr>
            </a:pPr>
            <a:r>
              <a:t>•  Type: L2-Regularised Linear Classifier</a:t>
            </a:r>
          </a:p>
          <a:p>
            <a:pPr>
              <a:spcAft>
                <a:spcPts val="500"/>
              </a:spcAft>
              <a:defRPr sz="950" b="0">
                <a:solidFill>
                  <a:srgbClr val="0F172A"/>
                </a:solidFill>
              </a:defRPr>
            </a:pPr>
            <a:r>
              <a:t>•  Why chosen: Interpretable linear baseline; coefficients directly show feature directionality; fast to train.</a:t>
            </a:r>
          </a:p>
          <a:p>
            <a:pPr>
              <a:spcAft>
                <a:spcPts val="500"/>
              </a:spcAft>
              <a:defRPr sz="950" b="0">
                <a:solidFill>
                  <a:srgbClr val="0F172A"/>
                </a:solidFill>
              </a:defRPr>
            </a:pPr>
            <a:r>
              <a:t>•  Hyperparams: C=0.1 (strong regularisation), max_iter=1000</a:t>
            </a:r>
          </a:p>
          <a:p>
            <a:pPr>
              <a:spcAft>
                <a:spcPts val="500"/>
              </a:spcAft>
              <a:defRPr sz="1050" b="1">
                <a:solidFill>
                  <a:srgbClr val="D97706"/>
                </a:solidFill>
              </a:defRPr>
            </a:pPr>
            <a:r>
              <a:t>•  ROC-AUC = 0.6328  |  PR-AUC = 0.6102</a:t>
            </a:r>
          </a:p>
          <a:p>
            <a:pPr>
              <a:spcAft>
                <a:spcPts val="500"/>
              </a:spcAft>
              <a:defRPr sz="1050" b="1">
                <a:solidFill>
                  <a:srgbClr val="D97706"/>
                </a:solidFill>
              </a:defRPr>
            </a:pPr>
            <a:r>
              <a:t>•  Accuracy = 59.96%  |  F1 = 0.5943</a:t>
            </a:r>
          </a:p>
          <a:p>
            <a:pPr>
              <a:spcAft>
                <a:spcPts val="500"/>
              </a:spcAft>
              <a:defRPr sz="1050" b="1">
                <a:solidFill>
                  <a:srgbClr val="D97706"/>
                </a:solidFill>
              </a:defRPr>
            </a:pPr>
            <a:r>
              <a:t>•  Train time: 3.63s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</a:defRPr>
            </a:pPr>
            <a:r>
              <a:t>ML Benchmark Scorecard &amp; Model Comparison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94A3B8"/>
                </a:solidFill>
              </a:defRPr>
            </a:pPr>
            <a:r>
              <a:t>HistGradientBoosting Wins on ROC-AUC, PR-AUC, Accuracy &amp; F1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74536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94A3B8"/>
                </a:solidFill>
              </a:defRPr>
            </a:pPr>
            <a:r>
              <a:t>Source: Scikit-Learn metrics: roc_auc_score, average_precision_score, f1_score   |   Project SmartRetain  —  Confidential PoC Proposal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0" y="6574536"/>
            <a:ext cx="411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 i="0">
                <a:solidFill>
                  <a:srgbClr val="94A3B8"/>
                </a:solidFill>
              </a:defRPr>
            </a:pPr>
            <a:r>
              <a:t>10 / 15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170432"/>
            <a:ext cx="2286000" cy="38404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" y="1243584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</a:defRPr>
            </a:pPr>
            <a:r>
              <a:t>Model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97480" y="1170432"/>
            <a:ext cx="960120" cy="38404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52344" y="1243584"/>
            <a:ext cx="868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</a:defRPr>
            </a:pPr>
            <a:r>
              <a:t>ROC-AUC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0" y="1170432"/>
            <a:ext cx="914400" cy="38404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12464" y="1243584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</a:defRPr>
            </a:pPr>
            <a:r>
              <a:t>PR-AUC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0" y="1170432"/>
            <a:ext cx="960120" cy="38404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26864" y="1243584"/>
            <a:ext cx="868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</a:defRPr>
            </a:pPr>
            <a:r>
              <a:t>Accuracy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532120" y="1170432"/>
            <a:ext cx="1005840" cy="38404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86984" y="1243584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</a:defRPr>
            </a:pPr>
            <a:r>
              <a:t>Precision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37960" y="1170432"/>
            <a:ext cx="914400" cy="38404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92824" y="1243584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</a:defRPr>
            </a:pPr>
            <a:r>
              <a:t>Recall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52360" y="1170432"/>
            <a:ext cx="1005840" cy="38404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07224" y="1243584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</a:defRPr>
            </a:pPr>
            <a:r>
              <a:t>F1-Score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458200" y="1170432"/>
            <a:ext cx="868680" cy="38404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13064" y="1243584"/>
            <a:ext cx="777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</a:defRPr>
            </a:pPr>
            <a:r>
              <a:t>Train(s)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1554480"/>
            <a:ext cx="2286000" cy="384048"/>
          </a:xfrm>
          <a:prstGeom prst="rect">
            <a:avLst/>
          </a:prstGeom>
          <a:solidFill>
            <a:srgbClr val="DBEAF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6344" y="1618488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0F172A"/>
                </a:solidFill>
              </a:defRPr>
            </a:pPr>
            <a:r>
              <a:t>HistGradientBoosting*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97480" y="1554480"/>
            <a:ext cx="960120" cy="384048"/>
          </a:xfrm>
          <a:prstGeom prst="rect">
            <a:avLst/>
          </a:prstGeom>
          <a:solidFill>
            <a:srgbClr val="DBEAF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52344" y="1618488"/>
            <a:ext cx="868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 i="0">
                <a:solidFill>
                  <a:srgbClr val="2563EB"/>
                </a:solidFill>
              </a:defRPr>
            </a:pPr>
            <a:r>
              <a:t>0.6913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0" y="1554480"/>
            <a:ext cx="914400" cy="384048"/>
          </a:xfrm>
          <a:prstGeom prst="rect">
            <a:avLst/>
          </a:prstGeom>
          <a:solidFill>
            <a:srgbClr val="DBEAF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12464" y="1618488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 i="0">
                <a:solidFill>
                  <a:srgbClr val="2563EB"/>
                </a:solidFill>
              </a:defRPr>
            </a:pPr>
            <a:r>
              <a:t>0.6836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0" y="1554480"/>
            <a:ext cx="960120" cy="384048"/>
          </a:xfrm>
          <a:prstGeom prst="rect">
            <a:avLst/>
          </a:prstGeom>
          <a:solidFill>
            <a:srgbClr val="DBEAF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26864" y="1618488"/>
            <a:ext cx="868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 i="0">
                <a:solidFill>
                  <a:srgbClr val="2563EB"/>
                </a:solidFill>
              </a:defRPr>
            </a:pPr>
            <a:r>
              <a:t>63.50%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532120" y="1554480"/>
            <a:ext cx="1005840" cy="384048"/>
          </a:xfrm>
          <a:prstGeom prst="rect">
            <a:avLst/>
          </a:prstGeom>
          <a:solidFill>
            <a:srgbClr val="DBEAF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586984" y="1618488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 i="0">
                <a:solidFill>
                  <a:srgbClr val="2563EB"/>
                </a:solidFill>
              </a:defRPr>
            </a:pPr>
            <a:r>
              <a:t>62.96%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37960" y="1554480"/>
            <a:ext cx="914400" cy="384048"/>
          </a:xfrm>
          <a:prstGeom prst="rect">
            <a:avLst/>
          </a:prstGeom>
          <a:solidFill>
            <a:srgbClr val="DBEAF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92824" y="1618488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 i="0">
                <a:solidFill>
                  <a:srgbClr val="2563EB"/>
                </a:solidFill>
              </a:defRPr>
            </a:pPr>
            <a:r>
              <a:t>63.99%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52360" y="1554480"/>
            <a:ext cx="1005840" cy="384048"/>
          </a:xfrm>
          <a:prstGeom prst="rect">
            <a:avLst/>
          </a:prstGeom>
          <a:solidFill>
            <a:srgbClr val="DBEAF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507224" y="1618488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 i="0">
                <a:solidFill>
                  <a:srgbClr val="2563EB"/>
                </a:solidFill>
              </a:defRPr>
            </a:pPr>
            <a:r>
              <a:t>0.6347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458200" y="1554480"/>
            <a:ext cx="868680" cy="384048"/>
          </a:xfrm>
          <a:prstGeom prst="rect">
            <a:avLst/>
          </a:prstGeom>
          <a:solidFill>
            <a:srgbClr val="DBEAF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513064" y="1618488"/>
            <a:ext cx="777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 i="0">
                <a:solidFill>
                  <a:srgbClr val="2563EB"/>
                </a:solidFill>
              </a:defRPr>
            </a:pPr>
            <a:r>
              <a:t>12.9s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1480" y="1938528"/>
            <a:ext cx="2286000" cy="38404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6344" y="2002536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0F172A"/>
                </a:solidFill>
              </a:defRPr>
            </a:pPr>
            <a:r>
              <a:t>RandomForest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697480" y="1938528"/>
            <a:ext cx="960120" cy="38404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752344" y="2002536"/>
            <a:ext cx="868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0F172A"/>
                </a:solidFill>
              </a:defRPr>
            </a:pPr>
            <a:r>
              <a:t>0.6746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0" y="1938528"/>
            <a:ext cx="914400" cy="38404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712464" y="2002536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0F172A"/>
                </a:solidFill>
              </a:defRPr>
            </a:pPr>
            <a:r>
              <a:t>0.6636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0" y="1938528"/>
            <a:ext cx="960120" cy="38404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626864" y="2002536"/>
            <a:ext cx="868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0F172A"/>
                </a:solidFill>
              </a:defRPr>
            </a:pPr>
            <a:r>
              <a:t>62.04%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532120" y="1938528"/>
            <a:ext cx="1005840" cy="38404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586984" y="2002536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0F172A"/>
                </a:solidFill>
              </a:defRPr>
            </a:pPr>
            <a:r>
              <a:t>61.16%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537960" y="1938528"/>
            <a:ext cx="914400" cy="38404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592824" y="2002536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0F172A"/>
                </a:solidFill>
              </a:defRPr>
            </a:pPr>
            <a:r>
              <a:t>64.13%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452360" y="1938528"/>
            <a:ext cx="1005840" cy="38404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507224" y="2002536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0F172A"/>
                </a:solidFill>
              </a:defRPr>
            </a:pPr>
            <a:r>
              <a:t>0.6261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458200" y="1938528"/>
            <a:ext cx="868680" cy="38404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513064" y="2002536"/>
            <a:ext cx="777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0F172A"/>
                </a:solidFill>
              </a:defRPr>
            </a:pPr>
            <a:r>
              <a:t>14.4s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11480" y="2322576"/>
            <a:ext cx="2286000" cy="38404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66344" y="2386584"/>
            <a:ext cx="2194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0F172A"/>
                </a:solidFill>
              </a:defRPr>
            </a:pPr>
            <a:r>
              <a:t>LogisticRegression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697480" y="2322576"/>
            <a:ext cx="960120" cy="38404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752344" y="2386584"/>
            <a:ext cx="868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0F172A"/>
                </a:solidFill>
              </a:defRPr>
            </a:pPr>
            <a:r>
              <a:t>0.6328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0" y="2322576"/>
            <a:ext cx="914400" cy="38404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712464" y="2386584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0F172A"/>
                </a:solidFill>
              </a:defRPr>
            </a:pPr>
            <a:r>
              <a:t>0.6102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572000" y="2322576"/>
            <a:ext cx="960120" cy="38404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626864" y="2386584"/>
            <a:ext cx="868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0F172A"/>
                </a:solidFill>
              </a:defRPr>
            </a:pPr>
            <a:r>
              <a:t>59.96%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532120" y="2322576"/>
            <a:ext cx="1005840" cy="38404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586984" y="2386584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0F172A"/>
                </a:solidFill>
              </a:defRPr>
            </a:pPr>
            <a:r>
              <a:t>59.69%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537960" y="2322576"/>
            <a:ext cx="914400" cy="38404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592824" y="2386584"/>
            <a:ext cx="822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0F172A"/>
                </a:solidFill>
              </a:defRPr>
            </a:pPr>
            <a:r>
              <a:t>59.17%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452360" y="2322576"/>
            <a:ext cx="1005840" cy="38404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507224" y="2386584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0F172A"/>
                </a:solidFill>
              </a:defRPr>
            </a:pPr>
            <a:r>
              <a:t>0.5943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458200" y="2322576"/>
            <a:ext cx="868680" cy="38404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513064" y="2386584"/>
            <a:ext cx="777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0F172A"/>
                </a:solidFill>
              </a:defRPr>
            </a:pPr>
            <a:r>
              <a:t>3.6s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11480" y="2761488"/>
            <a:ext cx="8595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 i="1">
                <a:solidFill>
                  <a:srgbClr val="2563EB"/>
                </a:solidFill>
              </a:defRPr>
            </a:pPr>
            <a:r>
              <a:t>* PRIMARY MODEL — selected for production deployment</a:t>
            </a:r>
          </a:p>
        </p:txBody>
      </p:sp>
      <p:pic>
        <p:nvPicPr>
          <p:cNvPr id="74" name="Picture 73" descr="fig1_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3200400"/>
            <a:ext cx="11365992" cy="33375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</a:defRPr>
            </a:pPr>
            <a:r>
              <a:t>Predictive Power: Decile Lift &amp; Cumulative Gains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94A3B8"/>
                </a:solidFill>
              </a:defRPr>
            </a:pPr>
            <a:r>
              <a:t>Targeting Top 20% of Predicted-Risk Customers Captures 30% of All Churners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74536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94A3B8"/>
                </a:solidFill>
              </a:defRPr>
            </a:pPr>
            <a:r>
              <a:t>Source: Decile lift methodology: Kumar &amp; Ravi (2007); Internal PoC test set N=20,000   |   Project SmartRetain  —  Confidential PoC Proposal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0" y="6574536"/>
            <a:ext cx="411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 i="0">
                <a:solidFill>
                  <a:srgbClr val="94A3B8"/>
                </a:solidFill>
              </a:defRPr>
            </a:pPr>
            <a:r>
              <a:t>11 / 15</a:t>
            </a:r>
          </a:p>
        </p:txBody>
      </p:sp>
      <p:pic>
        <p:nvPicPr>
          <p:cNvPr id="9" name="Picture 8" descr="fig2_decile_li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70432"/>
            <a:ext cx="7680960" cy="3749039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8229600" y="1170432"/>
            <a:ext cx="1691640" cy="38404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84464" y="1252728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</a:defRPr>
            </a:pPr>
            <a:r>
              <a:t>Decile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21240" y="1170432"/>
            <a:ext cx="1280160" cy="38404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76104" y="1252728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</a:defRPr>
            </a:pPr>
            <a:r>
              <a:t>Churn Rate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201400" y="1170432"/>
            <a:ext cx="1005840" cy="38404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256264" y="1252728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</a:defRPr>
            </a:pPr>
            <a:r>
              <a:t>Lift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2207240" y="1170432"/>
            <a:ext cx="1691640" cy="38404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262104" y="1252728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</a:defRPr>
            </a:pPr>
            <a:r>
              <a:t>Cum. Captured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1554480"/>
            <a:ext cx="1691640" cy="384048"/>
          </a:xfrm>
          <a:prstGeom prst="rect">
            <a:avLst/>
          </a:prstGeom>
          <a:solidFill>
            <a:srgbClr val="DBEAF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84464" y="1627632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 i="0">
                <a:solidFill>
                  <a:srgbClr val="2563EB"/>
                </a:solidFill>
              </a:defRPr>
            </a:pPr>
            <a:r>
              <a:t>D1 (Highest Risk)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21240" y="1554480"/>
            <a:ext cx="1280160" cy="384048"/>
          </a:xfrm>
          <a:prstGeom prst="rect">
            <a:avLst/>
          </a:prstGeom>
          <a:solidFill>
            <a:srgbClr val="DBEAF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76104" y="1627632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 i="0">
                <a:solidFill>
                  <a:srgbClr val="2563EB"/>
                </a:solidFill>
              </a:defRPr>
            </a:pPr>
            <a:r>
              <a:t>79.85%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201400" y="1554480"/>
            <a:ext cx="1005840" cy="384048"/>
          </a:xfrm>
          <a:prstGeom prst="rect">
            <a:avLst/>
          </a:prstGeom>
          <a:solidFill>
            <a:srgbClr val="DBEAF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256264" y="1627632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 i="0">
                <a:solidFill>
                  <a:srgbClr val="2563EB"/>
                </a:solidFill>
              </a:defRPr>
            </a:pPr>
            <a:r>
              <a:t>1.61x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2207240" y="1554480"/>
            <a:ext cx="1691640" cy="384048"/>
          </a:xfrm>
          <a:prstGeom prst="rect">
            <a:avLst/>
          </a:prstGeom>
          <a:solidFill>
            <a:srgbClr val="DBEAFE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262104" y="1627632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 i="0">
                <a:solidFill>
                  <a:srgbClr val="2563EB"/>
                </a:solidFill>
              </a:defRPr>
            </a:pPr>
            <a:r>
              <a:t>16.1%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0" y="1938528"/>
            <a:ext cx="1691640" cy="38404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84464" y="2011680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0F172A"/>
                </a:solidFill>
              </a:defRPr>
            </a:pPr>
            <a:r>
              <a:t>D2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921240" y="1938528"/>
            <a:ext cx="1280160" cy="38404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976104" y="2011680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0F172A"/>
                </a:solidFill>
              </a:defRPr>
            </a:pPr>
            <a:r>
              <a:t>67.25%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201400" y="1938528"/>
            <a:ext cx="1005840" cy="38404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256264" y="2011680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0F172A"/>
                </a:solidFill>
              </a:defRPr>
            </a:pPr>
            <a:r>
              <a:t>1.36x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2207240" y="1938528"/>
            <a:ext cx="1691640" cy="38404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262104" y="2011680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0F172A"/>
                </a:solidFill>
              </a:defRPr>
            </a:pPr>
            <a:r>
              <a:t>29.7%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29600" y="2322576"/>
            <a:ext cx="1691640" cy="38404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84464" y="2395728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0F172A"/>
                </a:solidFill>
              </a:defRPr>
            </a:pPr>
            <a:r>
              <a:t>D3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921240" y="2322576"/>
            <a:ext cx="1280160" cy="38404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976104" y="2395728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0F172A"/>
                </a:solidFill>
              </a:defRPr>
            </a:pPr>
            <a:r>
              <a:t>61.05%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1201400" y="2322576"/>
            <a:ext cx="1005840" cy="38404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256264" y="2395728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0F172A"/>
                </a:solidFill>
              </a:defRPr>
            </a:pPr>
            <a:r>
              <a:t>1.23x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2207240" y="2322576"/>
            <a:ext cx="1691640" cy="38404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262104" y="2395728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0F172A"/>
                </a:solidFill>
              </a:defRPr>
            </a:pPr>
            <a:r>
              <a:t>42.0%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229600" y="2706624"/>
            <a:ext cx="1691640" cy="38404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84464" y="2779776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0F172A"/>
                </a:solidFill>
              </a:defRPr>
            </a:pPr>
            <a:r>
              <a:t>D4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921240" y="2706624"/>
            <a:ext cx="1280160" cy="38404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976104" y="2779776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0F172A"/>
                </a:solidFill>
              </a:defRPr>
            </a:pPr>
            <a:r>
              <a:t>54.25%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1201400" y="2706624"/>
            <a:ext cx="1005840" cy="38404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256264" y="2779776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0F172A"/>
                </a:solidFill>
              </a:defRPr>
            </a:pPr>
            <a:r>
              <a:t>1.09x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2207240" y="2706624"/>
            <a:ext cx="1691640" cy="38404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2262104" y="2779776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0F172A"/>
                </a:solidFill>
              </a:defRPr>
            </a:pPr>
            <a:r>
              <a:t>52.9%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229600" y="3090672"/>
            <a:ext cx="1691640" cy="38404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284464" y="3163824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0F172A"/>
                </a:solidFill>
              </a:defRPr>
            </a:pPr>
            <a:r>
              <a:t>D5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921240" y="3090672"/>
            <a:ext cx="1280160" cy="38404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976104" y="3163824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0F172A"/>
                </a:solidFill>
              </a:defRPr>
            </a:pPr>
            <a:r>
              <a:t>52.80%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1201400" y="3090672"/>
            <a:ext cx="1005840" cy="38404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1256264" y="3163824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0F172A"/>
                </a:solidFill>
              </a:defRPr>
            </a:pPr>
            <a:r>
              <a:t>1.07x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2207240" y="3090672"/>
            <a:ext cx="1691640" cy="38404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2262104" y="3163824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0F172A"/>
                </a:solidFill>
              </a:defRPr>
            </a:pPr>
            <a:r>
              <a:t>63.6%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229600" y="3474720"/>
            <a:ext cx="1691640" cy="38404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284464" y="3547872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0F172A"/>
                </a:solidFill>
              </a:defRPr>
            </a:pPr>
            <a:r>
              <a:t>D10 (Lowest Risk)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921240" y="3474720"/>
            <a:ext cx="1280160" cy="38404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976104" y="3547872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0F172A"/>
                </a:solidFill>
              </a:defRPr>
            </a:pPr>
            <a:r>
              <a:t>19.50%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1201400" y="3474720"/>
            <a:ext cx="1005840" cy="38404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1256264" y="3547872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0F172A"/>
                </a:solidFill>
              </a:defRPr>
            </a:pPr>
            <a:r>
              <a:t>0.39x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2207240" y="3474720"/>
            <a:ext cx="1691640" cy="384048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2262104" y="3547872"/>
            <a:ext cx="1600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0">
                <a:solidFill>
                  <a:srgbClr val="0F172A"/>
                </a:solidFill>
              </a:defRPr>
            </a:pPr>
            <a:r>
              <a:t>100%</a:t>
            </a:r>
          </a:p>
        </p:txBody>
      </p:sp>
      <p:pic>
        <p:nvPicPr>
          <p:cNvPr id="66" name="Picture 65" descr="fig5_score_distribu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4956048"/>
            <a:ext cx="11365992" cy="157276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</a:defRPr>
            </a:pPr>
            <a:r>
              <a:t>Top Predictive Drivers of Churn — Root-Cause Attribution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94A3B8"/>
                </a:solidFill>
              </a:defRPr>
            </a:pPr>
            <a:r>
              <a:t>Permutation Feature Importance | HistGradientBoosting | Test Set N=5,000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74536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94A3B8"/>
                </a:solidFill>
              </a:defRPr>
            </a:pPr>
            <a:r>
              <a:t>Source: Permutation Importance: Altmann et al. (2010); Breiman (2001)   |   Project SmartRetain  —  Confidential PoC Proposal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0" y="6574536"/>
            <a:ext cx="411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 i="0">
                <a:solidFill>
                  <a:srgbClr val="94A3B8"/>
                </a:solidFill>
              </a:defRPr>
            </a:pPr>
            <a:r>
              <a:t>12 / 15</a:t>
            </a:r>
          </a:p>
        </p:txBody>
      </p:sp>
      <p:pic>
        <p:nvPicPr>
          <p:cNvPr id="9" name="Picture 8" descr="fig4_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70432"/>
            <a:ext cx="7772400" cy="534924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366760" y="1170432"/>
            <a:ext cx="3657600" cy="5349240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31352" y="1298448"/>
            <a:ext cx="3328416" cy="5148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3A8A"/>
                </a:solidFill>
              </a:defRPr>
            </a:pPr>
            <a:r>
              <a:t>Actionable Driver Summary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  •  DEVICE OBSOLESCENCE (blue): eqpdays &amp; hnd_price are top structural drivers — hardware upgrades are the highest-ROI fix.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  •  USAGE CONTRACTION (red): usage_drop_ratio &amp; mou_Mean signal disengagement 30-60 days before churn.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  •  PLAN &amp; BILLING (amber): totmrc_Mean &amp; overage_ratio — plan right-sizing reduces bill-shock churn.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  •  TENURE (green): months — targeting contract renewal windows (13-24 mos) with proactive offers.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  •  ACCOUNT LIMITS (purple): asl_flag — credit-restricted accounts exhibit elevated churn; special plan options needed.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</a:defRPr>
            </a:pPr>
            <a:r>
              <a:t>Business Proposal: Project SmartRetain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94A3B8"/>
                </a:solidFill>
              </a:defRPr>
            </a:pPr>
            <a:r>
              <a:t>ML-Guided Proactive Retention — $1.41M Net Annual Profit | 157% ROI | 4.7-Month Payback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74536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94A3B8"/>
                </a:solidFill>
              </a:defRPr>
            </a:pPr>
            <a:r>
              <a:t>Source: Bain &amp; Co. (2020) retention benchmarks; McKinsey (2021) ML save rate; Internal ROI model   |   Project SmartRetain  —  Confidential PoC Proposal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0" y="6574536"/>
            <a:ext cx="411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 i="0">
                <a:solidFill>
                  <a:srgbClr val="94A3B8"/>
                </a:solidFill>
              </a:defRPr>
            </a:pPr>
            <a:r>
              <a:t>13 / 15</a:t>
            </a:r>
          </a:p>
        </p:txBody>
      </p:sp>
      <p:pic>
        <p:nvPicPr>
          <p:cNvPr id="9" name="Picture 8" descr="fig7_revenue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70432"/>
            <a:ext cx="5394960" cy="25603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11480" y="3858768"/>
            <a:ext cx="1901952" cy="960120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" y="3986784"/>
            <a:ext cx="157276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2563EB"/>
                </a:solidFill>
              </a:defRPr>
            </a:pPr>
            <a:r>
              <a:t>TARGET COHORT</a:t>
            </a:r>
          </a:p>
          <a:p>
            <a:pPr>
              <a:defRPr sz="1800" b="1">
                <a:solidFill>
                  <a:srgbClr val="2563EB"/>
                </a:solidFill>
              </a:defRPr>
            </a:pPr>
            <a:r>
              <a:t>20,000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Top 2 risk deciles (20% of base)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41448" y="3858768"/>
            <a:ext cx="1901952" cy="960120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06040" y="3986784"/>
            <a:ext cx="157276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10B981"/>
                </a:solidFill>
              </a:defRPr>
            </a:pPr>
            <a:r>
              <a:t>CUSTOMERS SAVED</a:t>
            </a:r>
          </a:p>
          <a:p>
            <a:pPr>
              <a:defRPr sz="1800" b="1">
                <a:solidFill>
                  <a:srgbClr val="10B981"/>
                </a:solidFill>
              </a:defRPr>
            </a:pPr>
            <a:r>
              <a:t>3,285 / yr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22.5% save rate (McKinsey benchmark)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71416" y="3858768"/>
            <a:ext cx="1901952" cy="960120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36008" y="3986784"/>
            <a:ext cx="157276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10B981"/>
                </a:solidFill>
              </a:defRPr>
            </a:pPr>
            <a:r>
              <a:t>GROSS REV PRESERVED</a:t>
            </a:r>
          </a:p>
          <a:p>
            <a:pPr>
              <a:defRPr sz="1800" b="1">
                <a:solidFill>
                  <a:srgbClr val="10B981"/>
                </a:solidFill>
              </a:defRPr>
            </a:pPr>
            <a:r>
              <a:t>$2.31M / yr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3,285 × $704.64 annual ARPU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01384" y="3858768"/>
            <a:ext cx="1901952" cy="960120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65976" y="3986784"/>
            <a:ext cx="157276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D97706"/>
                </a:solidFill>
              </a:defRPr>
            </a:pPr>
            <a:r>
              <a:t>CAMPAIGN COST</a:t>
            </a:r>
          </a:p>
          <a:p>
            <a:pPr>
              <a:defRPr sz="1800" b="1">
                <a:solidFill>
                  <a:srgbClr val="D97706"/>
                </a:solidFill>
              </a:defRPr>
            </a:pPr>
            <a:r>
              <a:t>$900K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$45/offer × 20,000 targeted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31352" y="3858768"/>
            <a:ext cx="1901952" cy="960120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95944" y="3986784"/>
            <a:ext cx="157276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10B981"/>
                </a:solidFill>
              </a:defRPr>
            </a:pPr>
            <a:r>
              <a:t>NET PROFIT LIFT</a:t>
            </a:r>
          </a:p>
          <a:p>
            <a:pPr>
              <a:defRPr sz="1800" b="1">
                <a:solidFill>
                  <a:srgbClr val="10B981"/>
                </a:solidFill>
              </a:defRPr>
            </a:pPr>
            <a:r>
              <a:t>+$1.41M/yr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Revenue saved minus campaign cost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561320" y="3858768"/>
            <a:ext cx="1901952" cy="960120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725912" y="3986784"/>
            <a:ext cx="157276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0D9488"/>
                </a:solidFill>
              </a:defRPr>
            </a:pPr>
            <a:r>
              <a:t>ROI</a:t>
            </a:r>
          </a:p>
          <a:p>
            <a:pPr>
              <a:defRPr sz="1800" b="1">
                <a:solidFill>
                  <a:srgbClr val="0D9488"/>
                </a:solidFill>
              </a:defRPr>
            </a:pPr>
            <a:r>
              <a:t>157.2%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Payback period: 4.7 months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89320" y="1188720"/>
            <a:ext cx="3474720" cy="2487168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53912" y="1316736"/>
            <a:ext cx="3145536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2563EB"/>
                </a:solidFill>
              </a:defRPr>
            </a:pPr>
            <a:r>
              <a:t>Phase 1: Deploy (Wks 1-4)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  •  Productionise HistGradientBoosting scoring pipeline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  •  Score all 100k customers weekly; flag top-2-decile cohort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  •  Integrate output into CRM retention dashboard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65208" y="1188720"/>
            <a:ext cx="3474720" cy="2487168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29800" y="1316736"/>
            <a:ext cx="3145536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D9488"/>
                </a:solidFill>
              </a:defRPr>
            </a:pPr>
            <a:r>
              <a:t>Phase 2: Intervene (Wks 5-12)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  •  Personalised outreach: device upgrade subsidy, bill credit, plan right-sizing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  •  Priority: aged-device + high-overage + usage-declining segments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  •  Track save rate vs. control group weekly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341096" y="1188720"/>
            <a:ext cx="3474720" cy="2487168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505688" y="1316736"/>
            <a:ext cx="3145536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10B981"/>
                </a:solidFill>
              </a:defRPr>
            </a:pPr>
            <a:r>
              <a:t>Phase 3: Scale (Mos 4-12)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  •  Full 1M subscriber deployment: $14.1M projected net profit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  •  Embed model in real-time event streaming for instant risk alerts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  •  Quarterly model refresh with new behavioural data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</a:defRPr>
            </a:pPr>
            <a:r>
              <a:t>Enterprise Scale Impact &amp; Risk Considerations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94A3B8"/>
                </a:solidFill>
              </a:defRPr>
            </a:pPr>
            <a:r>
              <a:t>From 100k PoC to 1M Subscriber Deployment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74536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94A3B8"/>
                </a:solidFill>
              </a:defRPr>
            </a:pPr>
            <a:r>
              <a:t>Source: McKinsey (2021); Bain &amp; Co. (2020); GDPR/CCPA compliance requirements   |   Project SmartRetain  —  Confidential PoC Proposal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0" y="6574536"/>
            <a:ext cx="411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 i="0">
                <a:solidFill>
                  <a:srgbClr val="94A3B8"/>
                </a:solidFill>
              </a:defRPr>
            </a:pPr>
            <a:r>
              <a:t>14 / 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188720"/>
            <a:ext cx="3474720" cy="5074920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" y="1316736"/>
            <a:ext cx="3145536" cy="4873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PoC Scale</a:t>
            </a:r>
            <a:br/>
            <a:r>
              <a:t>(100k Subscribers)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  •  Targeted Cohort: 20,000 accounts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  •  Churners Saved: 3,285 / year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  •  Gross Revenue Preserved: $2.31M / year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  •  Campaign Investment: $900K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  •  Net Profit Lift: +$1.41M / year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  •  ROI: 157% | Payback: 4.7 months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87368" y="1188720"/>
            <a:ext cx="3474720" cy="5074920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51960" y="1316736"/>
            <a:ext cx="3145536" cy="4873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Enterprise Scale</a:t>
            </a:r>
            <a:br/>
            <a:r>
              <a:t>(1M Subscribers)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  •  Targeted Cohort: 200,000 accounts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  •  Churners Saved: 32,850 / year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  •  Gross Revenue Preserved: $23.1M / year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  •  Campaign Investment: $9.0M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  •  Net Profit Lift: +$14.1M / year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  •  ROI: 157% | Payback: 4.7 months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63256" y="1188720"/>
            <a:ext cx="3474720" cy="5074920"/>
          </a:xfrm>
          <a:prstGeom prst="round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27848" y="1316736"/>
            <a:ext cx="3145536" cy="4873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Risk &amp; Mitigation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  •  Model drift: Re-train quarterly on fresh data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  •  Data privacy: GDPR / CCPA compliant scoring pipeline (no PII in features)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  •  Offer saturation: A/B test offer types; cap contact frequency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  •  Class imbalance: Monitor PR-AUC, not just accuracy</a:t>
            </a:r>
          </a:p>
          <a:p>
            <a:pPr>
              <a:spcAft>
                <a:spcPts val="300"/>
              </a:spcAft>
              <a:defRPr sz="950">
                <a:solidFill>
                  <a:srgbClr val="64748B"/>
                </a:solidFill>
              </a:defRPr>
            </a:pPr>
            <a:r>
              <a:t>  •  False positives: Untargeted offers waste budget — decile cap limits exposure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640080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 i="0">
                <a:solidFill>
                  <a:srgbClr val="1E3A8A"/>
                </a:solidFill>
              </a:defRPr>
            </a:pPr>
            <a:r>
              <a:t>Model Confusion Matrices (Test Set, N=20,000):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FFFFFF"/>
                </a:solidFill>
              </a:defRPr>
            </a:pPr>
            <a:r>
              <a:t>References &amp; Citations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8368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94A3B8"/>
                </a:solidFill>
              </a:defRPr>
            </a:pPr>
            <a:r>
              <a:t>All External Data, Methods &amp; Benchmarks Used in This Proposal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74536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94A3B8"/>
                </a:solidFill>
              </a:defRPr>
            </a:pPr>
            <a:r>
              <a:t>Project SmartRetain  —  Confidential PoC Proposal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0" y="6574536"/>
            <a:ext cx="411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 i="0">
                <a:solidFill>
                  <a:srgbClr val="94A3B8"/>
                </a:solidFill>
              </a:defRPr>
            </a:pPr>
            <a:r>
              <a:t>15 /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54864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100" b="1">
                <a:solidFill>
                  <a:srgbClr val="1E3A8A"/>
                </a:solidFill>
              </a:defRPr>
            </a:pPr>
            <a:r>
              <a:t>Market &amp; Industry Data</a:t>
            </a:r>
          </a:p>
          <a:p>
            <a:pPr>
              <a:spcAft>
                <a:spcPts val="200"/>
              </a:spcAft>
              <a:defRPr sz="880">
                <a:solidFill>
                  <a:srgbClr val="0F172A"/>
                </a:solidFill>
              </a:defRPr>
            </a:pPr>
            <a:r>
              <a:t>[1]  Bain &amp; Company. (2020). Prescription for Cutting Costs: Reducing customer defection. Bain &amp; Company Insights.</a:t>
            </a:r>
          </a:p>
          <a:p>
            <a:pPr>
              <a:spcAft>
                <a:spcPts val="200"/>
              </a:spcAft>
              <a:defRPr sz="880">
                <a:solidFill>
                  <a:srgbClr val="0F172A"/>
                </a:solidFill>
              </a:defRPr>
            </a:pPr>
            <a:r>
              <a:t>[2]  McKinsey &amp; Company. (2021). The value of getting personalization right—or wrong—is multiplying. McKinsey Digital.</a:t>
            </a:r>
          </a:p>
          <a:p>
            <a:pPr>
              <a:spcAft>
                <a:spcPts val="200"/>
              </a:spcAft>
              <a:defRPr sz="880">
                <a:solidFill>
                  <a:srgbClr val="0F172A"/>
                </a:solidFill>
              </a:defRPr>
            </a:pPr>
            <a:r>
              <a:t>[3]  GSMA Intelligence. (2023). State of Mobile Internet Connectivity Report 2023. GSMA.</a:t>
            </a:r>
          </a:p>
          <a:p>
            <a:pPr>
              <a:spcAft>
                <a:spcPts val="200"/>
              </a:spcAft>
              <a:defRPr sz="880">
                <a:solidFill>
                  <a:srgbClr val="0F172A"/>
                </a:solidFill>
              </a:defRPr>
            </a:pPr>
            <a:r>
              <a:t>[4]  Ericsson. (2024). Ericsson Mobility Report, June 2024. Ericsson AB.</a:t>
            </a:r>
          </a:p>
          <a:p>
            <a:pPr>
              <a:spcAft>
                <a:spcPts val="200"/>
              </a:spcAft>
              <a:defRPr sz="880">
                <a:solidFill>
                  <a:srgbClr val="0F172A"/>
                </a:solidFill>
              </a:defRPr>
            </a:pPr>
            <a:r>
              <a:t>[5]  Federal Communications Commission. (2022). FCC Mobile Wireless Competition Report. FCC.</a:t>
            </a:r>
          </a:p>
          <a:p>
            <a:pPr>
              <a:spcBef>
                <a:spcPts val="800"/>
              </a:spcBef>
              <a:defRPr sz="1100" b="1">
                <a:solidFill>
                  <a:srgbClr val="1E3A8A"/>
                </a:solidFill>
              </a:defRPr>
            </a:pPr>
            <a:r>
              <a:t>Machine Learning &amp; Statistical Methods</a:t>
            </a:r>
          </a:p>
          <a:p>
            <a:pPr>
              <a:spcAft>
                <a:spcPts val="200"/>
              </a:spcAft>
              <a:defRPr sz="880">
                <a:solidFill>
                  <a:srgbClr val="0F172A"/>
                </a:solidFill>
              </a:defRPr>
            </a:pPr>
            <a:r>
              <a:t>[6]  Breiman, L. (2001). Random Forests. Machine Learning, 45(1), 5-32. https://doi.org/10.1023/A:1010933404324</a:t>
            </a:r>
          </a:p>
          <a:p>
            <a:pPr>
              <a:spcAft>
                <a:spcPts val="200"/>
              </a:spcAft>
              <a:defRPr sz="880">
                <a:solidFill>
                  <a:srgbClr val="0F172A"/>
                </a:solidFill>
              </a:defRPr>
            </a:pPr>
            <a:r>
              <a:t>[7]  Friedman, J. H. (2001). Greedy Function Approximation: A Gradient Boosting Machine. Annals of Statistics, 29(5), 1189-1232.</a:t>
            </a:r>
          </a:p>
          <a:p>
            <a:pPr>
              <a:spcAft>
                <a:spcPts val="200"/>
              </a:spcAft>
              <a:defRPr sz="880">
                <a:solidFill>
                  <a:srgbClr val="0F172A"/>
                </a:solidFill>
              </a:defRPr>
            </a:pPr>
            <a:r>
              <a:t>[8]  Altmann, A., Tolosi, L., Sander, O., &amp; Lengauer, T. (2010). Permutation importance: a corrected feature importance measure. Bioinformatics, 26(10), 1340-1347.</a:t>
            </a:r>
          </a:p>
          <a:p>
            <a:pPr>
              <a:spcAft>
                <a:spcPts val="200"/>
              </a:spcAft>
              <a:defRPr sz="880">
                <a:solidFill>
                  <a:srgbClr val="0F172A"/>
                </a:solidFill>
              </a:defRPr>
            </a:pPr>
            <a:r>
              <a:t>[9]  Kumar, D. A., &amp; Ravi, V. (2007). Predicting credit card customer churn using data mining techniques. International Journal of Data Analysis Techniques and Strategies, 1(1), 4-28.</a:t>
            </a:r>
          </a:p>
          <a:p>
            <a:pPr>
              <a:spcAft>
                <a:spcPts val="200"/>
              </a:spcAft>
              <a:defRPr sz="880">
                <a:solidFill>
                  <a:srgbClr val="0F172A"/>
                </a:solidFill>
              </a:defRPr>
            </a:pPr>
            <a:r>
              <a:t>[10] Pedregosa, F., et al. (2011). Scikit-learn: Machine Learning in Python. JMLR 12, 2825-2830. https://scikit-learn.org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188720"/>
            <a:ext cx="57607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100" b="1">
                <a:solidFill>
                  <a:srgbClr val="1E3A8A"/>
                </a:solidFill>
              </a:defRPr>
            </a:pPr>
            <a:r>
              <a:t>Dataset</a:t>
            </a:r>
          </a:p>
          <a:p>
            <a:pPr>
              <a:spcAft>
                <a:spcPts val="200"/>
              </a:spcAft>
              <a:defRPr sz="880">
                <a:solidFill>
                  <a:srgbClr val="0F172A"/>
                </a:solidFill>
              </a:defRPr>
            </a:pPr>
            <a:r>
              <a:t>[11] Client.csv &amp; Record.csv. (2024). Provided by client as part of IT Consulting PoC engagement.</a:t>
            </a:r>
          </a:p>
          <a:p>
            <a:pPr>
              <a:spcAft>
                <a:spcPts val="200"/>
              </a:spcAft>
              <a:defRPr sz="880">
                <a:solidFill>
                  <a:srgbClr val="0F172A"/>
                </a:solidFill>
              </a:defRPr>
            </a:pPr>
            <a:r>
              <a:t>     Variables include: customer demographics, device attributes, billing records, call usage, and churn labels.</a:t>
            </a:r>
          </a:p>
          <a:p>
            <a:pPr>
              <a:spcAft>
                <a:spcPts val="200"/>
              </a:spcAft>
              <a:defRPr sz="880">
                <a:solidFill>
                  <a:srgbClr val="0F172A"/>
                </a:solidFill>
              </a:defRPr>
            </a:pPr>
            <a:r>
              <a:t>     N = 100,000 customers | 50 client features | 50 usage/billing features | Merged on Customer_ID.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35508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 i="1">
                <a:solidFill>
                  <a:srgbClr val="64748B"/>
                </a:solidFill>
              </a:defRPr>
            </a:pPr>
            <a:r>
              <a:t>Note: All analysis, models, and visualisations in this presentation are original work performed on the client-provided dataset. External benchmarks are cited above. Model results are reproducible from new_eda.py and new_test.py.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