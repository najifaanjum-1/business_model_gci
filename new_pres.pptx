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0A5FA"/>
                </a:solidFill>
              </a:defRPr>
            </a:pPr>
            <a:r>
              <a:t>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</a:defRPr>
            </a:pPr>
            <a:r>
              <a:t>Machine Learning-Driven Customer Retention</a:t>
            </a:r>
            <a:br/>
            <a:r>
              <a:t>&amp; Revenue Preservation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</a:defRPr>
            </a:pPr>
            <a:r>
              <a:t>A Data-Driven Business Proposal for Executive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103327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05072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Prepared by: IT Consulting Associate — AI &amp; Data Science Practice</a:t>
            </a:r>
          </a:p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</a:defRPr>
            </a:pPr>
            <a:r>
              <a:t>Client: Telecommunications Provider   |   Engagement: PoC Machine Learning Project</a:t>
            </a:r>
          </a:p>
          <a:p>
            <a:pPr>
              <a:spcAft>
                <a:spcPts val="400"/>
              </a:spcAft>
              <a:defRPr sz="1050" b="0">
                <a:solidFill>
                  <a:srgbClr val="94A3B8"/>
                </a:solidFill>
              </a:defRPr>
            </a:pPr>
            <a:r>
              <a:t>Dataset: Client.csv + Record.csv  (N = 100,000 customers, 100 merged features)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Core Stack: Python 3 · Scikit-Learn · HistGradientBoosting · RandomForest ·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91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CONFIDENTIAL — FOR EXECUTIVE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How This Proposal Flows from Data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841248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61872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Market</a:t>
            </a:r>
            <a:br/>
            <a:r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5798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57984" y="1143000"/>
            <a:ext cx="84124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3704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Business</a:t>
            </a:r>
            <a:br/>
            <a:r>
              <a:t>Problem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54096" y="1143000"/>
            <a:ext cx="84124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Hardware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0208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50208" y="1143000"/>
            <a:ext cx="841248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Behavioral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143000"/>
            <a:ext cx="841248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Tenure &amp; Quality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4243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42432" y="1143000"/>
            <a:ext cx="841248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Model Rationale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3854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38544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4264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Scorecard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34656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34656" y="1143000"/>
            <a:ext cx="84124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6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6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Decile Lift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30768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30768" y="1143000"/>
            <a:ext cx="841248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Drivers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6880" y="1143000"/>
            <a:ext cx="84124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Business</a:t>
            </a:r>
            <a:br/>
            <a:r>
              <a:t>Proposal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2299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22992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2299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68712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ROI &amp;</a:t>
            </a:r>
            <a:br/>
            <a:r>
              <a:t>Roadmap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11910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119104" y="1143000"/>
            <a:ext cx="84124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1910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64824" y="1463040"/>
            <a:ext cx="768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E3A8A"/>
                </a:solidFill>
              </a:defRPr>
            </a:pPr>
            <a:r>
              <a:t>Data Analysis  --&gt;  Model Insights  --&gt;  Quantified Business Case  --&gt;  Recommendation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3611880"/>
            <a:ext cx="35661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EDA reveals who churns, why, and when — grounded in your actual data.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70248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70248" y="3611880"/>
            <a:ext cx="35661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07408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07408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HistGradientBoosting scores every customer by churn risk with 0.6913 ROC-AUC.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83296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83296" y="3611880"/>
            <a:ext cx="35661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0456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0456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$1.41M net annual profit from targeted ML-guided retention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One-Page Overview: Problem  →  Evidence  →  Model  → 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Internal PoC Data: Client.csv + Record.csv (N=100,000)]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26517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1.  The Burning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CHURN RATE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49.56% — nearly 1 in 2 customers lost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ANNUAL REV AT RISK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$34.45 Million lost every year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ROOT CAUSES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Aged devices, bill shock, silent disengagement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KEY GAP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No in-house ML capability to flag risk before cancellation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143000"/>
            <a:ext cx="265176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2.  ML PoC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563EB"/>
                </a:solidFill>
              </a:defRPr>
            </a:pPr>
            <a:r>
              <a:t>PRIMARY MODEL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HistGradientBoostingClassifier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EVALUATION METRIC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ROC-AUC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SCORE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0.6913  (vs 0.50 random baseline)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DECILE-1 CHURN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79.85% — 1.61x lift over random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BUSINESS INSIGHT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Top 20% of predicted-risk customers contain 30% of all churners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143000"/>
            <a:ext cx="265176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3.  Root-Cause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E3A8A"/>
                </a:solidFill>
              </a:defRPr>
            </a:pPr>
            <a:r>
              <a:t>DEVICE AGE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Devices &gt;2 yrs: 57.9% churn (+16.1pp above avg)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SILENT CHURNERS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0 support calls = 51.8% churn — leave without warning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BILL SHOCK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Overage &gt;$30 drives churn above 52.6%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CONTRACT CLIFF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Peak churn window: months 13–18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1143000"/>
            <a:ext cx="26517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4.  Business Case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A34A"/>
                </a:solidFill>
              </a:defRPr>
            </a:pPr>
            <a:r>
              <a:t>TARGET COHORT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Top 20% risk — 20,000 accounts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CUSTOMERS SAVED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3,285 / year  (22.5% save rate)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REVENUE PRESERVED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$2,314,742 / year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NET PROFIT LIFT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+$1,414,742 / year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ROI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157.2%  |  Payback: 4.7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Market &amp; 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Why This Problem Matters — Saturated Telecom, Rising Churn, High Acquisition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McKinsey (2021); Bain &amp; Co. (2020); GSMA Intelligence (2023); FCC (2022); Ericsson (2024)]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669280" cy="5166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64008" cy="5166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71016"/>
            <a:ext cx="5394960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Telecom Industry Macro Context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Global mobile subscriber growth has stalled at 1–2% CAGR in mature markets [GSMA, 2023].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U.S. wireless penetration exceeds 95%; growth now driven by ARPU uplift, not new subscribers [FCC, 2022].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Industry-average annual churn: 20–35% (postpaid); up to 50%+ for prepaid segments [FCC, 2022].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Our client’s churn rate of 49.56% is significantly above industry average — a critical competitive risk.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Customer Acquisition Cost (CAC): $300–$400 per new subscriber [McKinsey, 2021].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Retention cost via targeted offer: $30–$60 per saved customer [Bain &amp; Co., 2020].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A 5% reduction in churn increases profit by 25–95% in subscription businesses [Bain, 2020].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Proactive ML-guided retention programs save 20–30% of targeted at-risk customers [McKinsey, 2021].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43000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52728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INDUSTRY AVG CHURN RATE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20 – 35%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vs. Client’s 49.56% — well above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04872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CAC VS RETENTION COST RATIO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5 – 7×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New subscriber costs $315 vs $45 retention offer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66744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776472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6A34A"/>
                </a:solidFill>
              </a:defRPr>
            </a:pPr>
            <a:r>
              <a:t>PROFIT LIFT FROM 5% CHURN DROP</a:t>
            </a:r>
          </a:p>
          <a:p>
            <a:pPr>
              <a:spcAft>
                <a:spcPts val="200"/>
              </a:spcAft>
              <a:defRPr sz="1800" b="1">
                <a:solidFill>
                  <a:srgbClr val="16A34A"/>
                </a:solidFill>
              </a:defRPr>
            </a:pPr>
            <a:r>
              <a:t>25 – 95%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Compounding effect on Customer Lifetime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928616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038344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ML PROACTIVE SAVE RATE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20 – 30%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Of high-risk customers retained via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64748B"/>
                </a:solidFill>
              </a:defRPr>
            </a:pPr>
            <a:r>
              <a:t>[1] McKinsey &amp; Co. (2021)  [2] Bain &amp; Co. (2020)  [3] GSMA Intelligence (2023)  [4] FCC Mobile Report (2022)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The Business Problem: Defining the Burning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EDA Reveals a $34.45M Annual Revenue Crisis Hiding in Plain 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Internal PoC Dataset (N=100,000); Financial baseline from new_eda.py]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5 / 15</a:t>
            </a:r>
          </a:p>
        </p:txBody>
      </p:sp>
      <p:pic>
        <p:nvPicPr>
          <p:cNvPr id="9" name="Picture 8" descr="fig1_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68096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TOTAL CUSTOMERS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100,000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Merged from Client + Record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CHURN RATE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49.56%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49,562 customers lost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0D9488"/>
                </a:solidFill>
              </a:defRPr>
            </a:pPr>
            <a:r>
              <a:t>MONTHLY ARPU</a:t>
            </a:r>
          </a:p>
          <a:p>
            <a:pPr>
              <a:spcAft>
                <a:spcPts val="200"/>
              </a:spcAft>
              <a:defRPr sz="1800" b="1">
                <a:solidFill>
                  <a:srgbClr val="0D9488"/>
                </a:solidFill>
              </a:defRPr>
            </a:pPr>
            <a:r>
              <a:t>$58.72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Average Revenue Per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EA580C"/>
                </a:solidFill>
              </a:defRPr>
            </a:pPr>
            <a:r>
              <a:t>MONTHLY REV LOST</a:t>
            </a:r>
          </a:p>
          <a:p>
            <a:pPr>
              <a:spcAft>
                <a:spcPts val="200"/>
              </a:spcAft>
              <a:defRPr sz="1800" b="1">
                <a:solidFill>
                  <a:srgbClr val="EA580C"/>
                </a:solidFill>
              </a:defRPr>
            </a:pPr>
            <a:r>
              <a:t>$2.87M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From churned customers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ANNUAL REV AT RISK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$34.45M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If churn rate stays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143000"/>
            <a:ext cx="3657600" cy="2926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143000"/>
            <a:ext cx="64008" cy="29260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271016"/>
            <a:ext cx="3383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Client-Specific Challenge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Large dataset: 100,000 customers with 100 features across usage, billing, and device data.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Zero in-house ML capability: no predictive model to identify at-risk customers before they cancel.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Reactive support model: customers who complain are flagged, but 55,692 silent churners (51.8% churn) never call before leaving.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Current approach is mass marketing: expensive, untargeted, low ROI.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206240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31596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MISSING DATA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3.43% overall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8321040" y="4773168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882896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TOP MISSING COL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numbcars (49.4%)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8321040" y="5340096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6A34A"/>
                </a:solidFill>
              </a:defRPr>
            </a:pPr>
            <a:r>
              <a:t>DUPLICATES</a:t>
            </a:r>
          </a:p>
          <a:p>
            <a:pPr>
              <a:spcAft>
                <a:spcPts val="200"/>
              </a:spcAft>
              <a:defRPr sz="1800" b="1">
                <a:solidFill>
                  <a:srgbClr val="16A34A"/>
                </a:solidFill>
              </a:defRPr>
            </a:pPr>
            <a:r>
              <a:t>0 Customer_IDs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8321040" y="5907024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60167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FEATURE TYPES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82 numeric | 21 categorical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#1: Hardware &amp; Device Obsolescence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Aged and Budget Devices Are the #1 Structural Driver of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eqpdays, hnd_price, hnd_webcap, refurb_new]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6 / 15</a:t>
            </a:r>
          </a:p>
        </p:txBody>
      </p:sp>
      <p:pic>
        <p:nvPicPr>
          <p:cNvPr id="9" name="Picture 8" descr="fig2_equipmen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772400" cy="5376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43000"/>
            <a:ext cx="3657600" cy="53766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143000"/>
            <a:ext cx="64008" cy="53766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271016"/>
            <a:ext cx="3383280" cy="517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Key Device Findings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Devices &gt;2 years old churn at 57.9% vs 41.8% baseline — a 16.1pp penalty.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Budget handsets ($1–$50): 57.5% churn rate vs 41.0% for premium devices (&gt;\$150).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Legacy non-web handsets (WC) show significantly higher churn than mobile-browser enabled (WCMB).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Refurbished devices churn 4.5pp higher than new equivalents.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IMPLICATION: Hardware upgrade subsidy targeting aged-device users is the single highest-ROI retention lever.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PROPOSED ACTION: Offer $50–$100 device upgrade credit to all customers with equipment age &gt;18 months in the high-risk decile.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#2: Behavioral Signals &amp; Bill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Customers Leave Silently — Usage Drop + Overage Fees Are Leading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custcare_Mean, change_mou, ovrrev_Mean]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7 / 15</a:t>
            </a:r>
          </a:p>
        </p:txBody>
      </p:sp>
      <p:pic>
        <p:nvPicPr>
          <p:cNvPr id="9" name="Picture 8" descr="fig3_behavioral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65992" cy="3474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773168"/>
            <a:ext cx="361188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Silent Churner Paradox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55,692 customers (55.7% of base) made ZERO support calls yet churned at 51.8%. Waiting for a complaint is too late. Proactive scoring is the only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4773168"/>
            <a:ext cx="361188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Usage Contraction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Customers with MOU drop &gt;100 min/month churn at 53.6% vs 46.7% for usage surgers. Declining engagement is a reliable 30–60 day early warning signal before cancellation.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4773168"/>
            <a:ext cx="361188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Bill Shock 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Overage charges &gt;$30/month push churn to 52.6%. Proactive plan right-sizing or overage caps can directly neutralise this friction point without losing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#3: Tenure, Network Quality &amp;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Contract Renewal Windows Create Predictable Churn Cliffs at Months 13–18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months, drop_blk_Mean + numeric correlation matrix]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8 / 15</a:t>
            </a:r>
          </a:p>
        </p:txBody>
      </p:sp>
      <p:pic>
        <p:nvPicPr>
          <p:cNvPr id="9" name="Picture 8" descr="fig4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394960" cy="2633472"/>
          </a:xfrm>
          <a:prstGeom prst="rect">
            <a:avLst/>
          </a:prstGeom>
        </p:spPr>
      </p:pic>
      <p:pic>
        <p:nvPicPr>
          <p:cNvPr id="10" name="Picture 9" descr="fig5_network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13632"/>
            <a:ext cx="5394960" cy="2606040"/>
          </a:xfrm>
          <a:prstGeom prst="rect">
            <a:avLst/>
          </a:prstGeom>
        </p:spPr>
      </p:pic>
      <p:pic>
        <p:nvPicPr>
          <p:cNvPr id="11" name="Picture 10" descr="fig6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143000"/>
            <a:ext cx="5742432" cy="5376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3767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1E3A8A"/>
                </a:solidFill>
              </a:defRPr>
            </a:pPr>
            <a:r>
              <a:t>Peak churn at months 13–18 marks the end of initial contract period. Targeting pre-renewal customers (months 10–16) with loyalty offers can prevent this cliff.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Why Machine Learning? Model Selection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Three Models Chosen to Benchmark Performance Across Complexity, Speed, and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Breiman (2001) Random Forests; Friedman (2001) Gradient Boosting; Scikit-Learn (2011)]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43000"/>
            <a:ext cx="35204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1 (PRIMARY)</a:t>
            </a:r>
            <a:br/>
            <a:r>
              <a:t>HistGradientBoostingClassifier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Gradient Boosted Decision Trees (LightGBM-style ensemble)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Native NaN handling (no imputation needed), state-of-the-art tabular accuracy, built-in L2 regularisation via learning rate + leaf size constraints.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max_iter=150, learning_rate=0.08, max_leaf_nodes=31, min_samples_leaf=30, random_state=42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Train set: 80,000 samples (stratified 80/20 split)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Best ROC-AUC on test; handles class imbalance well; fast scoring at inference.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•  ROC-AUC = 0.6913  |  F1 = 0.6347  |  Train: 12.9s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05656" y="1143000"/>
            <a:ext cx="352044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2 (BENCHMARK)</a:t>
            </a:r>
            <a:br/>
            <a:r>
              <a:t>RandomForestClassifier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Bagging ensemble of 100 Decision Trees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Highly robust to outliers and non-linearity; provides native feature importance; strong baseline for comparison against boosting.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n_estimators=100, max_depth=12, min_samples_leaf=20, n_jobs=-1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Requires: Median imputation for missing values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Stable variance; interpretable; competitive performance.</a:t>
            </a:r>
          </a:p>
          <a:p>
            <a:pPr>
              <a:spcAft>
                <a:spcPts val="600"/>
              </a:spcAft>
              <a:defRPr sz="1050" b="1">
                <a:solidFill>
                  <a:srgbClr val="0D9488"/>
                </a:solidFill>
              </a:defRPr>
            </a:pPr>
            <a:r>
              <a:t>•  ROC-AUC = 0.6746  |  F1 = 0.6261  |  Train: 14.4s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27264" y="1143000"/>
            <a:ext cx="352044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3 (BASELINE)</a:t>
            </a:r>
            <a:br/>
            <a:r>
              <a:t>LogisticRegression (L2)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L2-regularised linear classifier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Establishes a linear performance floor; coefficients directly show feature directionality; fast to train and explain to stakeholders.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C=0.1 (strong regularisation), max_iter=1000, StandardScaler preprocessing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Requires: Median imputation + StandardScaler normalisation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Maximum interpretability; suitable for regulatory/compliance environments.</a:t>
            </a:r>
          </a:p>
          <a:p>
            <a:pPr>
              <a:spcAft>
                <a:spcPts val="600"/>
              </a:spcAft>
              <a:defRPr sz="1050" b="1">
                <a:solidFill>
                  <a:srgbClr val="D97706"/>
                </a:solidFill>
              </a:defRPr>
            </a:pPr>
            <a:r>
              <a:t>•  ROC-AUC = 0.6328  |  F1 = 0.5943  |  Train: 3.6s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ML Results: Benchmark Scorecard &amp; Evaluation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HistGradientBoosting Wins Across All Metrics on 20,000-Sample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Metrics: roc_auc_score, average_precision_score, f1_score (Scikit-Learn); Test N=20,000]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5603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Model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143000"/>
            <a:ext cx="896112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216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ROC-AUC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7912" y="1143000"/>
            <a:ext cx="82296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121615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PR-AUC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1143000"/>
            <a:ext cx="9144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21615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5272" y="1143000"/>
            <a:ext cx="9601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1216152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1143000"/>
            <a:ext cx="86868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21615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2" y="1143000"/>
            <a:ext cx="9144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21615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48472" y="1143000"/>
            <a:ext cx="777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2161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Train (s)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508760"/>
            <a:ext cx="256032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157276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HistGradientBoosting  (PRIMARY)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1508760"/>
            <a:ext cx="896112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1572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0.6913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2" y="1508760"/>
            <a:ext cx="82296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157276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0.6836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1508760"/>
            <a:ext cx="9144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157276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05272" y="1508760"/>
            <a:ext cx="96012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157276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62.96%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2" y="1508760"/>
            <a:ext cx="86868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157276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4072" y="1508760"/>
            <a:ext cx="9144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157276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0.6347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2" y="1508760"/>
            <a:ext cx="777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157276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12.9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874520"/>
            <a:ext cx="25603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93852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RandomForest  (Benchmark)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1874520"/>
            <a:ext cx="896112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1938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0.6746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67912" y="1874520"/>
            <a:ext cx="8229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193852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0.6636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87452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36592" y="19385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62.04%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05272" y="1874520"/>
            <a:ext cx="9601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50992" y="193852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61.16%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1874520"/>
            <a:ext cx="86868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193852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64.13%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4072" y="187452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9792" y="19385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0.6261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8472" y="18745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193852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14.4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240280"/>
            <a:ext cx="25603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230428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LogisticRegression L2  (Baseline)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2240280"/>
            <a:ext cx="896112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0.6328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67912" y="2240280"/>
            <a:ext cx="8229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13632" y="230428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0.6102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90872" y="224028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36592" y="23042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59.96%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05272" y="2240280"/>
            <a:ext cx="9601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230428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59.69%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5392" y="2240280"/>
            <a:ext cx="86868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11112" y="230428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59.17%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34072" y="224028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9792" y="23042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0.5943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48472" y="224028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94192" y="230428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3.6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642616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</a:defRPr>
            </a:pPr>
            <a:r>
              <a:t>★ PRIMARY MODEL: HistGradientBoostingClassifier  |  Evaluation Metric: ROC-AUC  |  Score: 0.6913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295351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ROC-AUC interpretation: 0.6913 means the model correctly ranks a churner above a non-churner 69.1% of the time (1.0 = perfect, 0.5 = random coin flip).</a:t>
            </a:r>
          </a:p>
        </p:txBody>
      </p:sp>
      <p:pic>
        <p:nvPicPr>
          <p:cNvPr id="75" name="Picture 74" descr="fig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01568"/>
            <a:ext cx="11365992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ML Insight: Decile Lift &amp; Cumulative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The Model Concentrates Churners in the Top Deciles — Enabling Surgical Targeting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Kumar &amp; Ravi (2007) Decile Lift; Internal test set N=20,000 | Model: HistGradientBoosting ROC-AUC=0.6913]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11 / 15</a:t>
            </a:r>
          </a:p>
        </p:txBody>
      </p:sp>
      <p:pic>
        <p:nvPicPr>
          <p:cNvPr id="9" name="Picture 8" descr="fig2_decil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223760" cy="365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1143000"/>
            <a:ext cx="1920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22529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Decile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143000"/>
            <a:ext cx="105156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225296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0" y="1143000"/>
            <a:ext cx="777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5640" y="122529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67160" y="1143000"/>
            <a:ext cx="13716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0" y="122529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Cum. Captured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508760"/>
            <a:ext cx="1920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58191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D1  (Highest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1508760"/>
            <a:ext cx="105156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58191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79.85%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1508760"/>
            <a:ext cx="777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640" y="158191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1.61×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67160" y="1508760"/>
            <a:ext cx="13716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0" y="15819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16.1%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87452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187452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94767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67.25%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18745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19476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1.36×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67160" y="187452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0" y="194767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29.7%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224028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31343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224028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231343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61.05%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0" y="224028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5640" y="231343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1.23×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567160" y="224028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12880" y="231343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42.0%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0604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267919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60" y="260604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267919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54.25%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20" y="260604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5640" y="267919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1.09×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67160" y="260604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12880" y="267919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97180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30449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360" y="297180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304495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52.80%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89920" y="297180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5640" y="30449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1.07×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567160" y="297180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12880" y="304495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63.6%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333756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341071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8360" y="333756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0" y="341071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46.60%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89920" y="333756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35640" y="341071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0.94×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67160" y="333756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12880" y="34107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73.0%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70332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37764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D10 (Lowest Risk)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38360" y="370332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0" y="377647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19.50%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89920" y="37033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35640" y="37764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0.39×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567160" y="370332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612880" y="377647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100.0%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C2626"/>
                </a:solidFill>
              </a:defRPr>
            </a:pPr>
            <a:r>
              <a:t>Decile-1 Churn: 79.85%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4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Almost 4 in 5 customers flagged in D1 will churn — 1.61x better than random.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548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828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</a:defRPr>
            </a:pPr>
            <a:r>
              <a:t>Top 20% → 30% Recall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828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Targeting just 20,000 customers captures 29.7% of all churners. Precision beats scale.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982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262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</a:defRPr>
            </a:pPr>
            <a:r>
              <a:t>D6 = 73% Churners Captured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262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Stopping at the top 6 deciles recovers 73% of all churners at 60% targeting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ML Insight: Top Churn Predictors — Root-Cause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Permutation Importance on HistGradientBoosting | Test Set N=5,000 | 5 Repeats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Altmann et al. (2010) Permutation Importance; Scikit-Learn permutation_importance()]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12 / 15</a:t>
            </a:r>
          </a:p>
        </p:txBody>
      </p:sp>
      <p:pic>
        <p:nvPicPr>
          <p:cNvPr id="9" name="Picture 8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772400" cy="5376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43000"/>
            <a:ext cx="3657600" cy="53766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143000"/>
            <a:ext cx="64008" cy="53766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271016"/>
            <a:ext cx="3383280" cy="517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Actionable Driver Summary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DEVICE (blue): eqpdays &amp; hnd_price are top structural drivers — hardware upgrade offers are highest-ROI.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USAGE (red): usage_drop_ratio &amp; mou_Mean signal disengagement 30–60 days before churn.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BILLING (amber): totmrc_Mean &amp; overage_ratio — plan right-sizing reduces bill-shock churn.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TENURE (green): months — contract renewal windows (13–18 mos) need proactive loyalty offers.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CREDIT (purple): asl_flag customers have elevated churn; special flexible plan options needed.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These drivers directly inform each of the three retention intervention types in the business proposal.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Business Proposal: 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ML-Guided Proactive Retention Strategy — Three Targeted Interventions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McKinsey (2021) save rate benchmark; Bain &amp; Co. (2020) CAC vs retention cost]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STRATEGY: Score every customer weekly → target top 20% risk cohort → apply personalised intervention → measure save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356616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1</a:t>
            </a:r>
            <a:br/>
            <a:r>
              <a:t>Device Upgrade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eqpdays &gt;18 months OR hnd_price &lt;$50 in top 2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$50–$100 handset subsidy or trade-in credit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Device age &gt;2 yrs = 57.9% churn; budget handsets = 57.5% churn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25–30%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~$75 average per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8" y="1719072"/>
            <a:ext cx="356616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2</a:t>
            </a:r>
            <a:br/>
            <a:r>
              <a:t>Plan Right-Sizing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ovrrev_Mean &gt;$20 OR usage_drop_ratio &lt;-1.0 in top 2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Proactive plan upgrade to eliminate overage; custom usage-matched plan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Overage &gt;$30 = 52.6% churn; usage drop &gt;100m = 53.6% churn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20–25%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~$30 average per offer (revenue-neutral to slightly positive)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719072"/>
            <a:ext cx="35661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3</a:t>
            </a:r>
            <a:br/>
            <a:r>
              <a:t>Loyalty &amp; Renewal Offer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months 10–16 (pre-renewal window) in top 3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Contract renewal bonus (e.g. 1 month free, loyalty points, device accessory)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Peak churn cliff at months 13–18 (52.7% churn rate)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18–22%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~$35 average per offer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92040"/>
            <a:ext cx="1136599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01184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 i="0">
                <a:solidFill>
                  <a:srgbClr val="FFFFFF"/>
                </a:solidFill>
              </a:defRPr>
            </a:pPr>
            <a:r>
              <a:t>ML-GUIDED vs UNTARGETED BLANKET OFFER:  Blanket (100k × $45) = $4.5M cost, ~$2.8M rev saved = -$1.7M NET LOSS    |    ML-Guided (20k × $45) = $0.9M cost, $2.3M rev saved = +$1.41M NET PROFIT</a:t>
            </a:r>
          </a:p>
        </p:txBody>
      </p:sp>
      <p:pic>
        <p:nvPicPr>
          <p:cNvPr id="25" name="Picture 24" descr="fig5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230368"/>
            <a:ext cx="11365992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ROI Quantification &amp;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157% ROI | 4.7-Month Payback | Scalable to $14.1M Net Profit at 1M Subscribers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Bain &amp; Co. (2020) 22.5% save rate; McKinsey (2021); Internal financial model]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20040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070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Financial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143000"/>
            <a:ext cx="256032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120700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PoC Scale (100k subs)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256032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20700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Enterprise Scale (1M subs)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81328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54533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Targeted Cohort (Top 20%)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48132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15453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20,000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8132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5453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200,000 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819656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188366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Expected Churners in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819656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188366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14,600  (73% churn)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819656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88366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146,000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157984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22199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Save Rate (22.5% benchmark)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2157984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8" y="22219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3,285 customers/yr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157984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22219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32,850 customers/yr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496312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256032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Annual ARPU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2496312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75888" y="256032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$704.64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496312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56032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$704.64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834640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28986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Gross Revenue Preserved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2834640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5888" y="289864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$2,314,742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834640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289864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$23,147,418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172968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32369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Campaign Cost ($45/offer)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317296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5888" y="32369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$900,000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17296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32369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$9,000,000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511296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35753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Net Annual Profit Lift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80" y="3511296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75888" y="357530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+$1,414,742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511296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6208" y="357530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+$14,147,418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849624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" y="391363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ROI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3849624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5888" y="39136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157.2%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849624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208" y="39136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157.2%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4187952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25196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Payback Period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4187952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75888" y="425196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4.7 months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4187952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36208" y="425196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4.7 months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11480" y="4617720"/>
            <a:ext cx="64008" cy="1965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1: Deploy</a:t>
            </a:r>
            <a:br/>
            <a:r>
              <a:t>(Weeks 1–4)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Productionise HGB scoring pipeline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Score 100k customers weekly in CRM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Flag top-2-decile cohort for outreach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Set up A/B control group (10%)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7472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474720" y="4617720"/>
            <a:ext cx="64008" cy="1965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</a:defRPr>
            </a:pPr>
            <a:r>
              <a:t>Phase 2: Intervene</a:t>
            </a:r>
            <a:br/>
            <a:r>
              <a:t>(Weeks 5–12)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Launch 3 targeted offer campaigns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Priority: aged-device + high-overage + pre-renewal segments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Track save rate vs control weekly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Adjust offer types based on response rate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3796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537960" y="4617720"/>
            <a:ext cx="64008" cy="1965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084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</a:defRPr>
            </a:pPr>
            <a:r>
              <a:t>Phase 3: Scale</a:t>
            </a:r>
            <a:br/>
            <a:r>
              <a:t>(Months 4–12)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Expand to full 1M subscriber base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Embed real-time event-driven scoring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Quarterly model refresh with new data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Target: $14.1M net annual profit</a:t>
            </a:r>
          </a:p>
        </p:txBody>
      </p:sp>
      <p:pic>
        <p:nvPicPr>
          <p:cNvPr id="78" name="Picture 77" descr="fig3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462272"/>
            <a:ext cx="3410712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References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All External Data, Methods, Benchmarks &amp; Tools Cited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486400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3A8A"/>
                </a:solidFill>
              </a:defRPr>
            </a:pPr>
            <a:r>
              <a:t>Market &amp; Industry Data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[1]  Bain &amp; Company. (2020). Prescription for Cutting Costs: Reducing Customer Defection. Bain &amp; Company Insights. https://www.bain.com/insights/prescription-for-cutting-costs/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[2]  McKinsey &amp; Company. (2021). The value of getting personalization right — or wrong — is multiplying. McKinsey Digital Insights. https://www.mckinsey.com/capabilities/growth-marketing-and-sales/our-insights/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[3]  GSMA Intelligence. (2023). State of Mobile Internet Connectivity Report 2023. GSMA. https://www.gsma.com/r/somic/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[4]  Federal Communications Commission. (2022). FCC Mobile Wireless Competition Report. FCC. https://www.fcc.gov/mobile-competition-reports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[5]  Ericsson AB. (2024). Ericsson Mobility Report, June 2024. https://www.ericsson.com/en/reports-and-papers/mobility-report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Machine Learning Methods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[6]  Breiman, L. (2001). Random Forests. Machine Learning, 45(1), 5–32. https://doi.org/10.1023/A:1010933404324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[7]  Friedman, J. H. (2001). Greedy Function Approximation: A Gradient Boosting Machine. Annals of Statistics, 29(5), 1189–1232.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[8]  Altmann, A., Tolosi, L., Sander, O., &amp; Lengauer, T. (2010). Permutation importance: a corrected feature importance measure. Bioinformatics, 26(10), 1340–1347.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[9]  Kumar, D. A., &amp; Ravi, V. (2007). Predicting credit card customer churn using data mining techniques. International Journal of Data Analysis Techniques and Strategies, 1(1), 4–28.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[10] Pedregosa, F., et al. (2011). Scikit-learn: Machine Learning in Python. JMLR 12, 2825–2830. https://scikit-learn.org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43000"/>
            <a:ext cx="5760720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3A8A"/>
                </a:solidFill>
              </a:defRPr>
            </a:pPr>
            <a:r>
              <a:t>Dataset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[11] Client.csv &amp; Record.csv. (2024). Provided by client as part of the IT Consulting PoC engagement.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   Contains: 100,000 customers | 50 client features (demographics, device, plan) | 50 usage/billing features.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   Merged on Customer_ID. Churn label: binary (1 = churned, 0 = active).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Analysis Code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[12] new_eda.py — Standalone EDA script. Generates 7 figures (figures_eda/). This project.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[13] new_test.py — ML training &amp; evaluation script. Generates 5 figures (figures_model/). This project.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[14] new_pres_gen.py — Presentation generator. Produces new_pres.pptx. This project.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On-Slide Citation Key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Slides 4, 13, 14: [1] Bain &amp; Co. (2020); [2] McKinsey (2021)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Slides 4, 5: [3] GSMA (2023); [4] FCC (2022)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Slides 6–8: [12] new_eda.py | Internal dataset analysis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Slides 9–12: [6] Breiman (2001); [7] Friedman (2001); [8] Altmann (2010); [10] Scikit-Learn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Slide 11: [9] Kumar &amp; Ravi (2007) Decile Lift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</a:defRPr>
            </a:pPr>
            <a:r>
              <a:t>This proposal is based entirely on original analysis of the client-provided dataset. All external statistics and methodologies are cited above. Model results are reproducible from new_eda.py and new_test.py.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