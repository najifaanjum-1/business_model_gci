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0A5FA"/>
                </a:solidFill>
              </a:defRPr>
            </a:pPr>
            <a:r>
              <a:t>PROJECT SMARTRETAIN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</a:defRPr>
            </a:pPr>
            <a:r>
              <a:t>Machine Learning-Driven Customer Retention</a:t>
            </a:r>
            <a:br/>
            <a:r>
              <a:t>&amp; Revenue Preservation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BD5E1"/>
                </a:solidFill>
              </a:defRPr>
            </a:pPr>
            <a:r>
              <a:t>A Data-Driven Business Proposal for Executive Leadership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840480"/>
            <a:ext cx="1033272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4005072"/>
            <a:ext cx="9784080" cy="943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</a:defRPr>
            </a:pPr>
            <a:r>
              <a:rPr dirty="0"/>
              <a:t>Prepared by: IT Consulting Associate — AI &amp; Data Science Practice</a:t>
            </a:r>
          </a:p>
          <a:p>
            <a:pPr>
              <a:spcAft>
                <a:spcPts val="400"/>
              </a:spcAft>
              <a:defRPr sz="1100" b="0">
                <a:solidFill>
                  <a:srgbClr val="CBD5E1"/>
                </a:solidFill>
              </a:defRPr>
            </a:pPr>
            <a:r>
              <a:rPr dirty="0"/>
              <a:t>Client: Telecommunications Provider   |   Engagement: PoC Machine Learning Project</a:t>
            </a:r>
          </a:p>
          <a:p>
            <a:pPr>
              <a:spcAft>
                <a:spcPts val="400"/>
              </a:spcAft>
              <a:defRPr sz="1050" b="0">
                <a:solidFill>
                  <a:srgbClr val="94A3B8"/>
                </a:solidFill>
              </a:defRPr>
            </a:pPr>
            <a:r>
              <a:rPr dirty="0"/>
              <a:t>Dataset: Client.csv + Record.csv  (N = 100,000 customers, 100 merged features)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rPr dirty="0"/>
              <a:t>Core Stack: Python 3 · Scikit-Learn · </a:t>
            </a:r>
            <a:r>
              <a:rPr dirty="0" err="1"/>
              <a:t>HistGradientBoosting</a:t>
            </a:r>
            <a:r>
              <a:rPr dirty="0"/>
              <a:t> · </a:t>
            </a:r>
            <a:r>
              <a:rPr dirty="0" err="1"/>
              <a:t>RandomForest</a:t>
            </a:r>
            <a:r>
              <a:rPr dirty="0"/>
              <a:t> · Logistic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9107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CONFIDENTIAL — FOR EXECUTIVE REVIEW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1290" y="2743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t>Presentation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How This Proposal Flows from Data to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</a:defRPr>
            </a:pPr>
            <a:r>
              <a:t>Project SmartRetain  |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74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</a:defRPr>
            </a:pPr>
            <a:r>
              <a:t>2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841248" cy="17373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841248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17043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463040"/>
            <a:ext cx="768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</a:defRPr>
            </a:pPr>
            <a:r>
              <a:rPr sz="1000" dirty="0"/>
              <a:t>Executive</a:t>
            </a:r>
            <a:br>
              <a:rPr sz="1000" dirty="0"/>
            </a:br>
            <a:r>
              <a:rPr sz="1000" dirty="0"/>
              <a:t>Summary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61872" y="1143000"/>
            <a:ext cx="841248" cy="17373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1261872" y="1143000"/>
            <a:ext cx="841248" cy="2560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1872" y="117043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1463040"/>
            <a:ext cx="768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</a:defRPr>
            </a:pPr>
            <a:r>
              <a:rPr sz="1000"/>
              <a:t>Market</a:t>
            </a:r>
            <a:br>
              <a:rPr sz="1000"/>
            </a:br>
            <a:r>
              <a:rPr sz="1000"/>
              <a:t>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57984" y="1143000"/>
            <a:ext cx="841248" cy="17373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57984" y="1143000"/>
            <a:ext cx="841248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57984" y="117043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03704" y="1463040"/>
            <a:ext cx="7680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</a:defRPr>
            </a:pPr>
            <a:r>
              <a:t>Business</a:t>
            </a:r>
            <a:br/>
            <a:r>
              <a:t>Problem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54096" y="1143000"/>
            <a:ext cx="841248" cy="17373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054096" y="1143000"/>
            <a:ext cx="841248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54096" y="117043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9816" y="1463040"/>
            <a:ext cx="7680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</a:defRPr>
            </a:pPr>
            <a:r>
              <a:t>EDA:</a:t>
            </a:r>
            <a:br/>
            <a:r>
              <a:t>Hardware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50208" y="1143000"/>
            <a:ext cx="841248" cy="17373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950208" y="1143000"/>
            <a:ext cx="841248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50208" y="117043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95928" y="1463040"/>
            <a:ext cx="7680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</a:defRPr>
            </a:pPr>
            <a:r>
              <a:t>EDA:</a:t>
            </a:r>
            <a:br/>
            <a:r>
              <a:t>Behavioral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1143000"/>
            <a:ext cx="841248" cy="17373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846320" y="1143000"/>
            <a:ext cx="841248" cy="2560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46320" y="117043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1463040"/>
            <a:ext cx="768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</a:defRPr>
            </a:pPr>
            <a:r>
              <a:t>EDA:</a:t>
            </a:r>
            <a:br/>
            <a:r>
              <a:t>Tenure &amp; Quality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42432" y="1143000"/>
            <a:ext cx="841248" cy="17373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742432" y="1143000"/>
            <a:ext cx="841248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42432" y="117043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88152" y="1463040"/>
            <a:ext cx="768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</a:defRPr>
            </a:pPr>
            <a:r>
              <a:t>ML:</a:t>
            </a:r>
            <a:br/>
            <a:r>
              <a:t>Model Rationale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38544" y="1143000"/>
            <a:ext cx="841248" cy="17373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638544" y="1143000"/>
            <a:ext cx="841248" cy="2560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38544" y="117043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84264" y="1463040"/>
            <a:ext cx="7680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</a:defRPr>
            </a:pPr>
            <a:r>
              <a:t>ML:</a:t>
            </a:r>
            <a:br/>
            <a:r>
              <a:t>Scorecard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34656" y="1143000"/>
            <a:ext cx="841248" cy="17373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534656" y="1143000"/>
            <a:ext cx="841248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34656" y="117043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0376" y="1463040"/>
            <a:ext cx="7680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</a:defRPr>
            </a:pPr>
            <a:r>
              <a:t>ML:</a:t>
            </a:r>
            <a:br/>
            <a:r>
              <a:t>Decile Lift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30768" y="1143000"/>
            <a:ext cx="841248" cy="17373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430768" y="1143000"/>
            <a:ext cx="841248" cy="2560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30768" y="117043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76488" y="1463040"/>
            <a:ext cx="7680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</a:defRPr>
            </a:pPr>
            <a:r>
              <a:t>ML:</a:t>
            </a:r>
            <a:br/>
            <a:r>
              <a:t>Drivers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26880" y="1143000"/>
            <a:ext cx="841248" cy="17373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326880" y="1143000"/>
            <a:ext cx="841248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326880" y="117043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72600" y="1463040"/>
            <a:ext cx="7680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</a:defRPr>
            </a:pPr>
            <a:r>
              <a:t>Business</a:t>
            </a:r>
            <a:br/>
            <a:r>
              <a:t>Proposal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222992" y="1143000"/>
            <a:ext cx="841248" cy="17373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0222992" y="1143000"/>
            <a:ext cx="841248" cy="2560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222992" y="117043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68712" y="1463040"/>
            <a:ext cx="7680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</a:defRPr>
            </a:pPr>
            <a:r>
              <a:rPr dirty="0"/>
              <a:t>ROI &amp;</a:t>
            </a:r>
            <a:br>
              <a:rPr dirty="0"/>
            </a:br>
            <a:r>
              <a:rPr dirty="0"/>
              <a:t>Roadmap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119104" y="1143000"/>
            <a:ext cx="841248" cy="17373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1119104" y="1143000"/>
            <a:ext cx="841248" cy="2560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1119104" y="117043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64824" y="1463040"/>
            <a:ext cx="76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</a:defRPr>
            </a:pPr>
            <a:r>
              <a:t>References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30175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E3A8A"/>
                </a:solidFill>
              </a:defRPr>
            </a:pPr>
            <a:r>
              <a:t>Data Analysis  --&gt;  Model Insights  --&gt;  Quantified Business Case  --&gt;  Recommendation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3611880"/>
            <a:ext cx="3566160" cy="263347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57200" y="3611880"/>
            <a:ext cx="356616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4360" y="3648456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t>UNDERSTAND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4360" y="3977640"/>
            <a:ext cx="3310128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F172A"/>
                </a:solidFill>
              </a:defRPr>
            </a:pPr>
            <a:r>
              <a:t>EDA reveals who churns, why, and when — grounded in your actual data.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270248" y="3611880"/>
            <a:ext cx="3566160" cy="263347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270248" y="3611880"/>
            <a:ext cx="356616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407408" y="3648456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t>PREDICT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07408" y="3977640"/>
            <a:ext cx="3310128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F172A"/>
                </a:solidFill>
              </a:defRPr>
            </a:pPr>
            <a:r>
              <a:t>HistGradientBoosting scores every customer by churn risk with 0.6913 ROC-AUC.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083296" y="3611880"/>
            <a:ext cx="3566160" cy="263347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083296" y="3611880"/>
            <a:ext cx="356616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220456" y="3648456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t>ACT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20456" y="3977640"/>
            <a:ext cx="3310128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F172A"/>
                </a:solidFill>
              </a:defRPr>
            </a:pPr>
            <a:r>
              <a:t>$1.41M net annual profit from targeted ML-guided retention interventions.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rPr dirty="0"/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One-Page Overview: Problem  →  Evidence  →  Model  → 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</a:defRPr>
            </a:pPr>
            <a:r>
              <a:t>[Source: Internal PoC Data: Client.csv + Record.csv (N=100,000)]   Project SmartRetain  |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74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</a:defRPr>
            </a:pPr>
            <a:r>
              <a:t>3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2651760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143000"/>
            <a:ext cx="265176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8" y="1188720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</a:defRPr>
            </a:pPr>
            <a:r>
              <a:t>1.  The Burning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" y="1527048"/>
            <a:ext cx="2414016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DC2626"/>
                </a:solidFill>
              </a:defRPr>
            </a:pPr>
            <a:r>
              <a:t>CHURN RATE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49.56% — nearly 1 in 2 customers lost</a:t>
            </a:r>
          </a:p>
          <a:p>
            <a:pPr>
              <a:defRPr sz="800" b="1">
                <a:solidFill>
                  <a:srgbClr val="DC2626"/>
                </a:solidFill>
              </a:defRPr>
            </a:pPr>
            <a:r>
              <a:t>ANNUAL REV AT RISK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$34.45 Million lost every year</a:t>
            </a:r>
          </a:p>
          <a:p>
            <a:pPr>
              <a:defRPr sz="800" b="1">
                <a:solidFill>
                  <a:srgbClr val="DC2626"/>
                </a:solidFill>
              </a:defRPr>
            </a:pPr>
            <a:r>
              <a:t>ROOT CAUSES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Aged devices, bill shock, silent disengagement</a:t>
            </a:r>
          </a:p>
          <a:p>
            <a:pPr>
              <a:defRPr sz="800" b="1">
                <a:solidFill>
                  <a:srgbClr val="DC2626"/>
                </a:solidFill>
              </a:defRPr>
            </a:pPr>
            <a:r>
              <a:t>KEY GAP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No in-house ML capability to flag risk before cancellation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143000"/>
            <a:ext cx="2651760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10128" y="1143000"/>
            <a:ext cx="2651760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19856" y="1188720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</a:defRPr>
            </a:pPr>
            <a:r>
              <a:t>2.  ML PoC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8144" y="1527048"/>
            <a:ext cx="2414016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2563EB"/>
                </a:solidFill>
              </a:defRPr>
            </a:pPr>
            <a:r>
              <a:t>PRIMARY MODEL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HistGradientBoostingClassifier</a:t>
            </a:r>
          </a:p>
          <a:p>
            <a:pPr>
              <a:defRPr sz="800" b="1">
                <a:solidFill>
                  <a:srgbClr val="2563EB"/>
                </a:solidFill>
              </a:defRPr>
            </a:pPr>
            <a:r>
              <a:t>EVALUATION METRIC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ROC-AUC</a:t>
            </a:r>
          </a:p>
          <a:p>
            <a:pPr>
              <a:defRPr sz="800" b="1">
                <a:solidFill>
                  <a:srgbClr val="2563EB"/>
                </a:solidFill>
              </a:defRPr>
            </a:pPr>
            <a:r>
              <a:t>SCORE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0.6913  (vs 0.50 random baseline)</a:t>
            </a:r>
          </a:p>
          <a:p>
            <a:pPr>
              <a:defRPr sz="800" b="1">
                <a:solidFill>
                  <a:srgbClr val="2563EB"/>
                </a:solidFill>
              </a:defRPr>
            </a:pPr>
            <a:r>
              <a:t>DECILE-1 CHURN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79.85% — 1.61x lift over random</a:t>
            </a:r>
          </a:p>
          <a:p>
            <a:pPr>
              <a:defRPr sz="800" b="1">
                <a:solidFill>
                  <a:srgbClr val="2563EB"/>
                </a:solidFill>
              </a:defRPr>
            </a:pPr>
            <a:r>
              <a:t>BUSINESS INSIGHT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Top 20% of predicted-risk customers contain 30% of all churners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143000"/>
            <a:ext cx="2651760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08776" y="1143000"/>
            <a:ext cx="265176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18504" y="1188720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</a:defRPr>
            </a:pPr>
            <a:r>
              <a:t>3.  Root-Cause Drivers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1527048"/>
            <a:ext cx="2414016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E3A8A"/>
                </a:solidFill>
              </a:defRPr>
            </a:pPr>
            <a:r>
              <a:t>DEVICE AGE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Devices &gt;2 yrs: 57.9% churn (+16.1pp above avg)</a:t>
            </a:r>
          </a:p>
          <a:p>
            <a:pPr>
              <a:defRPr sz="800" b="1">
                <a:solidFill>
                  <a:srgbClr val="1E3A8A"/>
                </a:solidFill>
              </a:defRPr>
            </a:pPr>
            <a:r>
              <a:t>SILENT CHURNERS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0 support calls = 51.8% churn — leave without warning</a:t>
            </a:r>
          </a:p>
          <a:p>
            <a:pPr>
              <a:defRPr sz="800" b="1">
                <a:solidFill>
                  <a:srgbClr val="1E3A8A"/>
                </a:solidFill>
              </a:defRPr>
            </a:pPr>
            <a:r>
              <a:t>BILL SHOCK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Overage &gt;$30 drives churn above 52.6%</a:t>
            </a:r>
          </a:p>
          <a:p>
            <a:pPr>
              <a:defRPr sz="800" b="1">
                <a:solidFill>
                  <a:srgbClr val="1E3A8A"/>
                </a:solidFill>
              </a:defRPr>
            </a:pPr>
            <a:r>
              <a:t>CONTRACT CLIFF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Peak churn window: months 13–18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07424" y="1143000"/>
            <a:ext cx="2651760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07424" y="1143000"/>
            <a:ext cx="2651760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7152" y="1188720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</a:defRPr>
            </a:pPr>
            <a:r>
              <a:t>4.  Business Case ROI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527048"/>
            <a:ext cx="2414016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A34A"/>
                </a:solidFill>
              </a:defRPr>
            </a:pPr>
            <a:r>
              <a:t>TARGET COHORT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Top 20% risk — 20,000 accounts</a:t>
            </a:r>
          </a:p>
          <a:p>
            <a:pPr>
              <a:defRPr sz="800" b="1">
                <a:solidFill>
                  <a:srgbClr val="16A34A"/>
                </a:solidFill>
              </a:defRPr>
            </a:pPr>
            <a:r>
              <a:t>CUSTOMERS SAVED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3,285 / year  (22.5% save rate)</a:t>
            </a:r>
          </a:p>
          <a:p>
            <a:pPr>
              <a:defRPr sz="800" b="1">
                <a:solidFill>
                  <a:srgbClr val="16A34A"/>
                </a:solidFill>
              </a:defRPr>
            </a:pPr>
            <a:r>
              <a:t>REVENUE PRESERVED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$2,314,742 / year</a:t>
            </a:r>
          </a:p>
          <a:p>
            <a:pPr>
              <a:defRPr sz="800" b="1">
                <a:solidFill>
                  <a:srgbClr val="16A34A"/>
                </a:solidFill>
              </a:defRPr>
            </a:pPr>
            <a:r>
              <a:t>NET PROFIT LIFT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+$1,414,742 / year</a:t>
            </a:r>
          </a:p>
          <a:p>
            <a:pPr>
              <a:defRPr sz="800" b="1">
                <a:solidFill>
                  <a:srgbClr val="16A34A"/>
                </a:solidFill>
              </a:defRPr>
            </a:pPr>
            <a:r>
              <a:t>ROI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157.2%  |  Payback: 4.7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t>Market &amp; 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Why This Problem Matters — Saturated Telecom, Rising Churn, High Acquisition Cost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</a:defRPr>
            </a:pPr>
            <a:r>
              <a:t>[Source: McKinsey (2021); Bain &amp; Co. (2020); GSMA Intelligence (2023); FCC (2022); Ericsson (2024)]   Project SmartRetain  |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74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</a:defRPr>
            </a:pPr>
            <a:r>
              <a:t>4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5669280" cy="51663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11480" y="1143000"/>
            <a:ext cx="64008" cy="5166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271016"/>
            <a:ext cx="5394960" cy="496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Telecom Industry Macro Context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Global mobile subscriber growth has stalled at 1–2% CAGR in mature markets [GSMA, 2023].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U.S. wireless penetration exceeds 95%; growth now driven by ARPU uplift, not new subscribers [FCC, 2022].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Industry-average annual churn: 20–35% (postpaid); up to 50%+ for prepaid segments [FCC, 2022].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Our client’s churn rate of 49.56% is significantly above industry average — a critical competitive risk.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Customer Acquisition Cost (CAC): $300–$400 per new subscriber [McKinsey, 2021].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Retention cost via targeted offer: $30–$60 per saved customer [Bain &amp; Co., 2020].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A 5% reduction in churn increases profit by 25–95% in subscription businesses [Bain, 2020].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Proactive ML-guided retention programs save 20–30% of targeted at-risk customers [McKinsey, 2021].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143000"/>
            <a:ext cx="5760720" cy="111556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252728"/>
            <a:ext cx="54864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DC2626"/>
                </a:solidFill>
              </a:defRPr>
            </a:pPr>
            <a:r>
              <a:t>INDUSTRY AVG CHURN RATE</a:t>
            </a:r>
          </a:p>
          <a:p>
            <a:pPr>
              <a:spcAft>
                <a:spcPts val="200"/>
              </a:spcAft>
              <a:defRPr sz="1800" b="1">
                <a:solidFill>
                  <a:srgbClr val="DC2626"/>
                </a:solidFill>
              </a:defRPr>
            </a:pPr>
            <a:r>
              <a:t>20 – 35%</a:t>
            </a:r>
          </a:p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</a:defRPr>
            </a:pPr>
            <a:r>
              <a:t>vs. Client’s 49.56% — well above benchmark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404872"/>
            <a:ext cx="5760720" cy="111556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2514600"/>
            <a:ext cx="54864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D97706"/>
                </a:solidFill>
              </a:defRPr>
            </a:pPr>
            <a:r>
              <a:t>CAC VS RETENTION COST RATIO</a:t>
            </a:r>
          </a:p>
          <a:p>
            <a:pPr>
              <a:spcAft>
                <a:spcPts val="200"/>
              </a:spcAft>
              <a:defRPr sz="1800" b="1">
                <a:solidFill>
                  <a:srgbClr val="D97706"/>
                </a:solidFill>
              </a:defRPr>
            </a:pPr>
            <a:r>
              <a:t>5 – 7×</a:t>
            </a:r>
          </a:p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</a:defRPr>
            </a:pPr>
            <a:r>
              <a:t>New subscriber costs $315 vs $45 retention offer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666744"/>
            <a:ext cx="5760720" cy="111556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3776472"/>
            <a:ext cx="54864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16A34A"/>
                </a:solidFill>
              </a:defRPr>
            </a:pPr>
            <a:r>
              <a:t>PROFIT LIFT FROM 5% CHURN DROP</a:t>
            </a:r>
          </a:p>
          <a:p>
            <a:pPr>
              <a:spcAft>
                <a:spcPts val="200"/>
              </a:spcAft>
              <a:defRPr sz="1800" b="1">
                <a:solidFill>
                  <a:srgbClr val="16A34A"/>
                </a:solidFill>
              </a:defRPr>
            </a:pPr>
            <a:r>
              <a:t>25 – 95%</a:t>
            </a:r>
          </a:p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</a:defRPr>
            </a:pPr>
            <a:r>
              <a:t>Compounding effect on Customer Lifetime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928616"/>
            <a:ext cx="5760720" cy="111556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5038344"/>
            <a:ext cx="54864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2563EB"/>
                </a:solidFill>
              </a:defRPr>
            </a:pPr>
            <a:r>
              <a:t>ML PROACTIVE SAVE RATE</a:t>
            </a:r>
          </a:p>
          <a:p>
            <a:pPr>
              <a:spcAft>
                <a:spcPts val="200"/>
              </a:spcAft>
              <a:defRPr sz="1800" b="1">
                <a:solidFill>
                  <a:srgbClr val="2563EB"/>
                </a:solidFill>
              </a:defRPr>
            </a:pPr>
            <a:r>
              <a:t>20 – 30%</a:t>
            </a:r>
          </a:p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</a:defRPr>
            </a:pPr>
            <a:r>
              <a:t>Of high-risk customers retained via intervention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00800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1">
                <a:solidFill>
                  <a:srgbClr val="64748B"/>
                </a:solidFill>
              </a:defRPr>
            </a:pPr>
            <a:r>
              <a:t>[1] McKinsey &amp; Co. (2021)  [2] Bain &amp; Co. (2020)  [3] GSMA Intelligence (2023)  [4] FCC Mobile Report (2022)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t>The Business Problem: Defining the Burning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EDA Reveals a $34.45M Annual Revenue Crisis Hiding in Plain 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</a:defRPr>
            </a:pPr>
            <a:r>
              <a:t>[Source: Internal PoC Dataset (N=100,000); Financial baseline from new_eda.py]   Project SmartRetain  |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74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</a:defRPr>
            </a:pPr>
            <a:r>
              <a:t>5 / 15</a:t>
            </a:r>
          </a:p>
        </p:txBody>
      </p:sp>
      <p:pic>
        <p:nvPicPr>
          <p:cNvPr id="9" name="Picture 8" descr="fig1_eda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7680960" cy="2926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4206240"/>
            <a:ext cx="2148840" cy="102412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4315968"/>
            <a:ext cx="18745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2563EB"/>
                </a:solidFill>
              </a:defRPr>
            </a:pPr>
            <a:r>
              <a:t>TOTAL CUSTOMERS</a:t>
            </a:r>
          </a:p>
          <a:p>
            <a:pPr>
              <a:spcAft>
                <a:spcPts val="200"/>
              </a:spcAft>
              <a:defRPr sz="1800" b="1">
                <a:solidFill>
                  <a:srgbClr val="2563EB"/>
                </a:solidFill>
              </a:defRPr>
            </a:pPr>
            <a:r>
              <a:t>100,000</a:t>
            </a:r>
          </a:p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</a:defRPr>
            </a:pPr>
            <a:r>
              <a:t>Merged from Client + Record 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5768" y="4206240"/>
            <a:ext cx="2148840" cy="102412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52928" y="4315968"/>
            <a:ext cx="18745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DC2626"/>
                </a:solidFill>
              </a:defRPr>
            </a:pPr>
            <a:r>
              <a:t>CHURN RATE</a:t>
            </a:r>
          </a:p>
          <a:p>
            <a:pPr>
              <a:spcAft>
                <a:spcPts val="200"/>
              </a:spcAft>
              <a:defRPr sz="1800" b="1">
                <a:solidFill>
                  <a:srgbClr val="DC2626"/>
                </a:solidFill>
              </a:defRPr>
            </a:pPr>
            <a:r>
              <a:t>49.56%</a:t>
            </a:r>
          </a:p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</a:defRPr>
            </a:pPr>
            <a:r>
              <a:t>49,562 customers lost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0056" y="4206240"/>
            <a:ext cx="2148840" cy="102412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57216" y="4315968"/>
            <a:ext cx="18745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0D9488"/>
                </a:solidFill>
              </a:defRPr>
            </a:pPr>
            <a:r>
              <a:t>MONTHLY ARPU</a:t>
            </a:r>
          </a:p>
          <a:p>
            <a:pPr>
              <a:spcAft>
                <a:spcPts val="200"/>
              </a:spcAft>
              <a:defRPr sz="1800" b="1">
                <a:solidFill>
                  <a:srgbClr val="0D9488"/>
                </a:solidFill>
              </a:defRPr>
            </a:pPr>
            <a:r>
              <a:t>$58.72</a:t>
            </a:r>
          </a:p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</a:defRPr>
            </a:pPr>
            <a:r>
              <a:t>Average Revenue Per User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4206240"/>
            <a:ext cx="2148840" cy="102412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61504" y="4315968"/>
            <a:ext cx="18745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EA580C"/>
                </a:solidFill>
              </a:defRPr>
            </a:pPr>
            <a:r>
              <a:t>MONTHLY REV LOST</a:t>
            </a:r>
          </a:p>
          <a:p>
            <a:pPr>
              <a:spcAft>
                <a:spcPts val="200"/>
              </a:spcAft>
              <a:defRPr sz="1800" b="1">
                <a:solidFill>
                  <a:srgbClr val="EA580C"/>
                </a:solidFill>
              </a:defRPr>
            </a:pPr>
            <a:r>
              <a:t>$2.87M</a:t>
            </a:r>
          </a:p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</a:defRPr>
            </a:pPr>
            <a:r>
              <a:t>From churned customers only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28632" y="4206240"/>
            <a:ext cx="2148840" cy="102412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65792" y="4315968"/>
            <a:ext cx="18745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DC2626"/>
                </a:solidFill>
              </a:defRPr>
            </a:pPr>
            <a:r>
              <a:t>ANNUAL REV AT RISK</a:t>
            </a:r>
          </a:p>
          <a:p>
            <a:pPr>
              <a:spcAft>
                <a:spcPts val="200"/>
              </a:spcAft>
              <a:defRPr sz="1800" b="1">
                <a:solidFill>
                  <a:srgbClr val="DC2626"/>
                </a:solidFill>
              </a:defRPr>
            </a:pPr>
            <a:r>
              <a:t>$34.45M</a:t>
            </a:r>
          </a:p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</a:defRPr>
            </a:pPr>
            <a:r>
              <a:t>If churn rate stays unchanged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143000"/>
            <a:ext cx="3657600" cy="292608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1143000"/>
            <a:ext cx="64008" cy="29260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0" y="1271016"/>
            <a:ext cx="338328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C2626"/>
                </a:solidFill>
              </a:defRPr>
            </a:pPr>
            <a:r>
              <a:t>Client-Specific Challenge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Large dataset: 100,000 customers with 100 features across usage, billing, and device data.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Zero in-house ML capability: no predictive model to identify at-risk customers before they cancel.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Reactive support model: customers who complain are flagged, but 55,692 silent churners (51.8% churn) never call before leaving.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Current approach is mass marketing: expensive, untargeted, low ROI.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4206240"/>
            <a:ext cx="3657600" cy="5029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58200" y="4315968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D97706"/>
                </a:solidFill>
              </a:defRPr>
            </a:pPr>
            <a:r>
              <a:t>MISSING DATA</a:t>
            </a:r>
          </a:p>
          <a:p>
            <a:pPr>
              <a:spcAft>
                <a:spcPts val="200"/>
              </a:spcAft>
              <a:defRPr sz="1800" b="1">
                <a:solidFill>
                  <a:srgbClr val="D97706"/>
                </a:solidFill>
              </a:defRPr>
            </a:pPr>
            <a:r>
              <a:t>3.43% overall</a:t>
            </a:r>
          </a:p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321040" y="4773168"/>
            <a:ext cx="3657600" cy="5029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58200" y="4882896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D97706"/>
                </a:solidFill>
              </a:defRPr>
            </a:pPr>
            <a:r>
              <a:t>TOP MISSING COL</a:t>
            </a:r>
          </a:p>
          <a:p>
            <a:pPr>
              <a:spcAft>
                <a:spcPts val="200"/>
              </a:spcAft>
              <a:defRPr sz="1800" b="1">
                <a:solidFill>
                  <a:srgbClr val="D97706"/>
                </a:solidFill>
              </a:defRPr>
            </a:pPr>
            <a:r>
              <a:t>numbcars (49.4%)</a:t>
            </a:r>
          </a:p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321040" y="5340096"/>
            <a:ext cx="3657600" cy="5029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58200" y="5449824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16A34A"/>
                </a:solidFill>
              </a:defRPr>
            </a:pPr>
            <a:r>
              <a:t>DUPLICATES</a:t>
            </a:r>
          </a:p>
          <a:p>
            <a:pPr>
              <a:spcAft>
                <a:spcPts val="200"/>
              </a:spcAft>
              <a:defRPr sz="1800" b="1">
                <a:solidFill>
                  <a:srgbClr val="16A34A"/>
                </a:solidFill>
              </a:defRPr>
            </a:pPr>
            <a:r>
              <a:t>0 Customer_IDs</a:t>
            </a:r>
          </a:p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907024"/>
            <a:ext cx="3657600" cy="5029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58200" y="6016752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2563EB"/>
                </a:solidFill>
              </a:defRPr>
            </a:pPr>
            <a:r>
              <a:t>FEATURE TYPES</a:t>
            </a:r>
          </a:p>
          <a:p>
            <a:pPr>
              <a:spcAft>
                <a:spcPts val="200"/>
              </a:spcAft>
              <a:defRPr sz="1800" b="1">
                <a:solidFill>
                  <a:srgbClr val="2563EB"/>
                </a:solidFill>
              </a:defRPr>
            </a:pPr>
            <a:r>
              <a:t>82 numeric | 21 categorical</a:t>
            </a:r>
          </a:p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t>EDA Finding #1: Hardware &amp; Device Obsolescence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Aged and Budget Devices Are the #1 Structural Driver of Churn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</a:defRPr>
            </a:pPr>
            <a:r>
              <a:t>[Source: Source: new_eda.py | Features: eqpdays, hnd_price, hnd_webcap, refurb_new]   Project SmartRetain  |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74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</a:defRPr>
            </a:pPr>
            <a:r>
              <a:t>6 / 15</a:t>
            </a:r>
          </a:p>
        </p:txBody>
      </p:sp>
      <p:pic>
        <p:nvPicPr>
          <p:cNvPr id="9" name="Picture 8" descr="fig2_equipment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7772400" cy="53766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66760" y="1143000"/>
            <a:ext cx="3657600" cy="537667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366760" y="1143000"/>
            <a:ext cx="64008" cy="537667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49640" y="1271016"/>
            <a:ext cx="3383280" cy="5175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</a:defRPr>
            </a:pPr>
            <a:r>
              <a:t>Key Device Findings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Devices &gt;2 years old churn at 57.9% vs 41.8% baseline — a 16.1pp penalty.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Budget handsets ($1–$50): 57.5% churn rate vs 41.0% for premium devices (&gt;$150).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Legacy non-web handsets (WC) show significantly higher churn than mobile-browser enabled (WCMB).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Refurbished devices churn 4.5pp higher than new equivalents.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IMPLICATION: Hardware upgrade subsidy targeting aged-device users is the single highest-ROI retention lever.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PROPOSED ACTION: Offer $50–$100 device upgrade credit to all customers with equipment age &gt;18 months in the high-risk decile.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t>EDA Finding #2: Behavioral Signals &amp; Bill Shock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Customers Leave Silently — Usage Drop + Overage Fees Are Leading Indicators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</a:defRPr>
            </a:pPr>
            <a:r>
              <a:t>[Source: Source: new_eda.py | Features: custcare_Mean, change_mou, ovrrev_Mean]   Project SmartRetain  |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74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</a:defRPr>
            </a:pPr>
            <a:r>
              <a:t>7 / 15</a:t>
            </a:r>
          </a:p>
        </p:txBody>
      </p:sp>
      <p:pic>
        <p:nvPicPr>
          <p:cNvPr id="9" name="Picture 8" descr="fig3_behavioral_bi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11365992" cy="3474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4773168"/>
            <a:ext cx="3611880" cy="1719072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4773168"/>
            <a:ext cx="3611880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" y="480974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</a:defRPr>
            </a:pPr>
            <a:r>
              <a:t>Silent Churner Paradox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5102352"/>
            <a:ext cx="341071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0F172A"/>
                </a:solidFill>
              </a:defRPr>
            </a:pPr>
            <a:r>
              <a:t>55,692 customers (55.7% of base) made ZERO support calls yet churned at 51.8%. Waiting for a complaint is too late. Proactive scoring is the only solution.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2816" y="4773168"/>
            <a:ext cx="3611880" cy="1719072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42816" y="4773168"/>
            <a:ext cx="3611880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52544" y="480974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</a:defRPr>
            </a:pPr>
            <a:r>
              <a:t>Usage Contraction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2544" y="5102352"/>
            <a:ext cx="341071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0F172A"/>
                </a:solidFill>
              </a:defRPr>
            </a:pPr>
            <a:r>
              <a:t>Customers with MOU drop &gt;100 min/month churn at 53.6% vs 46.7% for usage surgers. Declining engagement is a reliable 30–60 day early warning signal before cancellation.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4773168"/>
            <a:ext cx="3611880" cy="1719072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74152" y="4773168"/>
            <a:ext cx="3611880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3880" y="480974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</a:defRPr>
            </a:pPr>
            <a:r>
              <a:t>Bill Shock Effect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5102352"/>
            <a:ext cx="341071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0F172A"/>
                </a:solidFill>
              </a:defRPr>
            </a:pPr>
            <a:r>
              <a:t>Overage charges &gt;$30/month push churn to 52.6%. Proactive plan right-sizing or overage caps can directly neutralise this friction point without losing revenue.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t>EDA Finding #3: Tenure, Network Quality &amp; Correlations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Contract Renewal Windows Create Predictable Churn Cliffs at Months 13–18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</a:defRPr>
            </a:pPr>
            <a:r>
              <a:t>[Source: Source: new_eda.py | Features: months, drop_blk_Mean + numeric correlation matrix]   Project SmartRetain  |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74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</a:defRPr>
            </a:pPr>
            <a:r>
              <a:t>8 / 15</a:t>
            </a:r>
          </a:p>
        </p:txBody>
      </p:sp>
      <p:pic>
        <p:nvPicPr>
          <p:cNvPr id="9" name="Picture 8" descr="fig4_ten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5394960" cy="2633472"/>
          </a:xfrm>
          <a:prstGeom prst="rect">
            <a:avLst/>
          </a:prstGeom>
        </p:spPr>
      </p:pic>
      <p:pic>
        <p:nvPicPr>
          <p:cNvPr id="10" name="Picture 9" descr="fig5_network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913632"/>
            <a:ext cx="5394960" cy="2606040"/>
          </a:xfrm>
          <a:prstGeom prst="rect">
            <a:avLst/>
          </a:prstGeom>
        </p:spPr>
      </p:pic>
      <p:pic>
        <p:nvPicPr>
          <p:cNvPr id="11" name="Picture 10" descr="fig6_correlation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143000"/>
            <a:ext cx="5742432" cy="5376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37673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1">
                <a:solidFill>
                  <a:srgbClr val="1E3A8A"/>
                </a:solidFill>
              </a:defRPr>
            </a:pPr>
            <a:r>
              <a:t>Peak churn at months 13–18 marks the end of initial contract period. Targeting pre-renewal customers (months 10–16) with loyalty offers can prevent this cliff.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t>Why Machine Learning? Model Selection Rationale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Three Models Chosen to Benchmark Performance Across Complexity, Speed, and Interpretability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</a:defRPr>
            </a:pPr>
            <a:r>
              <a:t>[Source: Breiman (2001) Random Forests; Friedman (2001) Gradient Boosting; Scikit-Learn (2011)]   Project SmartRetain  |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74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</a:defRPr>
            </a:pPr>
            <a:r>
              <a:t>9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143000"/>
            <a:ext cx="3520440" cy="51663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1143000"/>
            <a:ext cx="352044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6" y="1179576"/>
            <a:ext cx="3319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</a:defRPr>
            </a:pPr>
            <a:r>
              <a:t>Model 1 (PRIMARY)</a:t>
            </a:r>
            <a:br/>
            <a:r>
              <a:t>HistGradientBoostingClassifier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545336"/>
            <a:ext cx="3282696" cy="465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Type: Gradient Boosted Decision Trees (LightGBM-style ensemble)</a:t>
            </a:r>
          </a:p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WHY CHOSEN: Native NaN handling (no imputation needed), state-of-the-art tabular accuracy, built-in L2 regularisation via learning rate + leaf size constraints.</a:t>
            </a:r>
          </a:p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Config: max_iter=150, learning_rate=0.08, max_leaf_nodes=31, min_samples_leaf=30, random_state=42</a:t>
            </a:r>
          </a:p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Train set: 80,000 samples (stratified 80/20 split)</a:t>
            </a:r>
          </a:p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Strengths: Best ROC-AUC on test; handles class imbalance well; fast scoring at inference.</a:t>
            </a:r>
          </a:p>
          <a:p>
            <a:pPr>
              <a:spcAft>
                <a:spcPts val="600"/>
              </a:spcAft>
              <a:defRPr sz="1050" b="1">
                <a:solidFill>
                  <a:srgbClr val="2563EB"/>
                </a:solidFill>
              </a:defRPr>
            </a:pPr>
            <a:r>
              <a:t>•  ROC-AUC = 0.6913  |  F1 = 0.6347  |  Train: 12.9s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05656" y="1143000"/>
            <a:ext cx="3520440" cy="51663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05656" y="1143000"/>
            <a:ext cx="3520440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15384" y="1179576"/>
            <a:ext cx="3319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</a:defRPr>
            </a:pPr>
            <a:r>
              <a:t>Model 2 (BENCHMARK)</a:t>
            </a:r>
            <a:br/>
            <a:r>
              <a:t>RandomForestClassifier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3672" y="1545336"/>
            <a:ext cx="3282696" cy="465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Type: Bagging ensemble of 100 Decision Trees</a:t>
            </a:r>
          </a:p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WHY CHOSEN: Highly robust to outliers and non-linearity; provides native feature importance; strong baseline for comparison against boosting.</a:t>
            </a:r>
          </a:p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Config: n_estimators=100, max_depth=12, min_samples_leaf=20, n_jobs=-1</a:t>
            </a:r>
          </a:p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Requires: Median imputation for missing values</a:t>
            </a:r>
          </a:p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Strengths: Stable variance; interpretable; competitive performance.</a:t>
            </a:r>
          </a:p>
          <a:p>
            <a:pPr>
              <a:spcAft>
                <a:spcPts val="600"/>
              </a:spcAft>
              <a:defRPr sz="1050" b="1">
                <a:solidFill>
                  <a:srgbClr val="0D9488"/>
                </a:solidFill>
              </a:defRPr>
            </a:pPr>
            <a:r>
              <a:t>•  ROC-AUC = 0.6746  |  F1 = 0.6261  |  Train: 14.4s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27264" y="1143000"/>
            <a:ext cx="3520440" cy="51663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27264" y="1143000"/>
            <a:ext cx="352044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36992" y="1179576"/>
            <a:ext cx="3319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</a:defRPr>
            </a:pPr>
            <a:r>
              <a:t>Model 3 (BASELINE)</a:t>
            </a:r>
            <a:br/>
            <a:r>
              <a:t>LogisticRegression (L2)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1545336"/>
            <a:ext cx="3282696" cy="465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Type: L2-regularised linear classifier</a:t>
            </a:r>
          </a:p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WHY CHOSEN: Establishes a linear performance floor; coefficients directly show feature directionality; fast to train and explain to stakeholders.</a:t>
            </a:r>
          </a:p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Config: C=0.1 (strong regularisation), max_iter=1000, StandardScaler preprocessing</a:t>
            </a:r>
          </a:p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Requires: Median imputation + StandardScaler normalisation</a:t>
            </a:r>
          </a:p>
          <a:p>
            <a:pPr>
              <a:spcAft>
                <a:spcPts val="400"/>
              </a:spcAft>
              <a:defRPr sz="950" b="0">
                <a:solidFill>
                  <a:srgbClr val="0F172A"/>
                </a:solidFill>
              </a:defRPr>
            </a:pPr>
            <a:r>
              <a:t>•  Strengths: Maximum interpretability; suitable for regulatory/compliance environments.</a:t>
            </a:r>
          </a:p>
          <a:p>
            <a:pPr>
              <a:spcAft>
                <a:spcPts val="600"/>
              </a:spcAft>
              <a:defRPr sz="1050" b="1">
                <a:solidFill>
                  <a:srgbClr val="D97706"/>
                </a:solidFill>
              </a:defRPr>
            </a:pPr>
            <a:r>
              <a:t>•  ROC-AUC = 0.6328  |  F1 = 0.5943  |  Train: 3.6s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rPr dirty="0"/>
              <a:t>ML Results: Benchmark Scorecard &amp; Evaluation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HistGradientBoosting Wins Across All Metrics on 20,000-Sample Test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</a:defRPr>
            </a:pPr>
            <a:r>
              <a:t>[Source: Metrics: roc_auc_score, average_precision_score, f1_score (Scikit-Learn); Test N=20,000]   Project SmartRetain  |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74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</a:defRPr>
            </a:pPr>
            <a:r>
              <a:t>10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256032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216152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</a:defRPr>
            </a:pPr>
            <a:r>
              <a:t>Model 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1143000"/>
            <a:ext cx="896112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0" y="12161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</a:defRPr>
            </a:pPr>
            <a:r>
              <a:t>ROC-AUC 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67912" y="1143000"/>
            <a:ext cx="82296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13632" y="1216152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</a:defRPr>
            </a:pPr>
            <a:r>
              <a:t>PR-AUC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90872" y="1143000"/>
            <a:ext cx="91440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36592" y="1216152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05272" y="1143000"/>
            <a:ext cx="96012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50992" y="1216152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</a:defRPr>
            </a:pPr>
            <a:r>
              <a:t>Precision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65392" y="1143000"/>
            <a:ext cx="86868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216152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</a:defRPr>
            </a:pPr>
            <a:r>
              <a:t>Recall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34072" y="1143000"/>
            <a:ext cx="91440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79792" y="1216152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</a:defRPr>
            </a:pPr>
            <a:r>
              <a:t>F1-Score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48472" y="1143000"/>
            <a:ext cx="77724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94192" y="1216152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</a:defRPr>
            </a:pPr>
            <a:r>
              <a:t>Train (s)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1508760"/>
            <a:ext cx="2560320" cy="365760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1572768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HistGradientBoosting  (PRIMARY)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71800" y="1508760"/>
            <a:ext cx="896112" cy="365760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17520" y="15727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0.6913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67912" y="1508760"/>
            <a:ext cx="822960" cy="365760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13632" y="1572768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0.6836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90872" y="1508760"/>
            <a:ext cx="914400" cy="365760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36592" y="1572768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63.50%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05272" y="1508760"/>
            <a:ext cx="960120" cy="365760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50992" y="1572768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62.96%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65392" y="1508760"/>
            <a:ext cx="868680" cy="365760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11112" y="1572768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63.99%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34072" y="1508760"/>
            <a:ext cx="914400" cy="365760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79792" y="1572768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0.6347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48472" y="1508760"/>
            <a:ext cx="777240" cy="365760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94192" y="1572768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12.9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1874520"/>
            <a:ext cx="256032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1938528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RandomForest  (Benchmark)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71800" y="1874520"/>
            <a:ext cx="896112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017520" y="1938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0.6746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67912" y="1874520"/>
            <a:ext cx="82296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913632" y="1938528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0.6636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874520"/>
            <a:ext cx="91440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736592" y="1938528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62.04%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05272" y="1874520"/>
            <a:ext cx="96012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650992" y="1938528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61.16%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65392" y="1874520"/>
            <a:ext cx="86868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11112" y="1938528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64.13%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34072" y="1874520"/>
            <a:ext cx="91440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79792" y="1938528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0.6261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48472" y="1874520"/>
            <a:ext cx="77724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94192" y="1938528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14.4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2240280"/>
            <a:ext cx="256032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57200" y="2304288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LogisticRegression L2  (Baseline)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71800" y="2240280"/>
            <a:ext cx="896112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017520" y="23042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0.6328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67912" y="2240280"/>
            <a:ext cx="82296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913632" y="2304288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0.6102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90872" y="2240280"/>
            <a:ext cx="91440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736592" y="2304288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59.96%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05272" y="2240280"/>
            <a:ext cx="96012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650992" y="2304288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59.69%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65392" y="2240280"/>
            <a:ext cx="86868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611112" y="2304288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59.17%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434072" y="2240280"/>
            <a:ext cx="91440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479792" y="2304288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0.5943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348472" y="2240280"/>
            <a:ext cx="77724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394192" y="2304288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3.6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1480" y="2642616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</a:defRPr>
            </a:pPr>
            <a:r>
              <a:t>★ PRIMARY MODEL: HistGradientBoostingClassifier  |  Evaluation Metric: ROC-AUC  |  Score: 0.6913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" y="2953512"/>
            <a:ext cx="11365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</a:defRPr>
            </a:pPr>
            <a:r>
              <a:t>ROC-AUC interpretation: 0.6913 means the model correctly ranks a churner above a non-churner 69.1% of the time (1.0 = perfect, 0.5 = random coin flip).</a:t>
            </a:r>
          </a:p>
        </p:txBody>
      </p:sp>
      <p:pic>
        <p:nvPicPr>
          <p:cNvPr id="75" name="Picture 74" descr="fig1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401568"/>
            <a:ext cx="11365992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t>ML Insight: Decile Lift &amp; Cumulative Gains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The Model Concentrates Churners in the Top Deciles — Enabling Surgical Targeting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</a:defRPr>
            </a:pPr>
            <a:r>
              <a:t>[Source: Kumar &amp; Ravi (2007) Decile Lift; Internal test set N=20,000 | Model: HistGradientBoosting ROC-AUC=0.6913]   Project SmartRetain  |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74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</a:defRPr>
            </a:pPr>
            <a:r>
              <a:t>11 / 15</a:t>
            </a:r>
          </a:p>
        </p:txBody>
      </p:sp>
      <p:pic>
        <p:nvPicPr>
          <p:cNvPr id="9" name="Picture 8" descr="fig2_decile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7223760" cy="36576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818120" y="1143000"/>
            <a:ext cx="192024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1225296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Decile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38360" y="1143000"/>
            <a:ext cx="105156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84080" y="1225296"/>
            <a:ext cx="978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Churn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0" y="1143000"/>
            <a:ext cx="77724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835640" y="1225296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Lift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567160" y="1143000"/>
            <a:ext cx="137160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612880" y="1225296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Cum. Captured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1508760"/>
            <a:ext cx="1920240" cy="365760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1581912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D1  (Highest Risk)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38360" y="1508760"/>
            <a:ext cx="1051560" cy="365760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84080" y="1581912"/>
            <a:ext cx="978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79.85%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89920" y="1508760"/>
            <a:ext cx="777240" cy="365760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35640" y="1581912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1.61×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567160" y="1508760"/>
            <a:ext cx="1371600" cy="365760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612880" y="1581912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16.1%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18120" y="1874520"/>
            <a:ext cx="192024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0" y="1947672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D2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38360" y="1874520"/>
            <a:ext cx="105156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84080" y="1947672"/>
            <a:ext cx="978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67.25%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789920" y="1874520"/>
            <a:ext cx="77724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835640" y="1947672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1.36×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567160" y="1874520"/>
            <a:ext cx="137160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612880" y="1947672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29.7%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0" y="2240280"/>
            <a:ext cx="192024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63840" y="2313432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D3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38360" y="2240280"/>
            <a:ext cx="105156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84080" y="2313432"/>
            <a:ext cx="978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61.05%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789920" y="2240280"/>
            <a:ext cx="77724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835640" y="2313432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1.23×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567160" y="2240280"/>
            <a:ext cx="137160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612880" y="2313432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42.0%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8120" y="2606040"/>
            <a:ext cx="192024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863840" y="2679192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D4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38360" y="2606040"/>
            <a:ext cx="105156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784080" y="2679192"/>
            <a:ext cx="978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54.25%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789920" y="2606040"/>
            <a:ext cx="77724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835640" y="2679192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1.09×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567160" y="2606040"/>
            <a:ext cx="137160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1612880" y="2679192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52.9%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18120" y="2971800"/>
            <a:ext cx="192024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863840" y="3044952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D5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38360" y="2971800"/>
            <a:ext cx="105156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784080" y="3044952"/>
            <a:ext cx="978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52.80%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789920" y="2971800"/>
            <a:ext cx="77724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835640" y="3044952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1.07×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567160" y="2971800"/>
            <a:ext cx="137160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1612880" y="3044952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63.6%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18120" y="3337560"/>
            <a:ext cx="192024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863840" y="3410712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D6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738360" y="3337560"/>
            <a:ext cx="105156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784080" y="3410712"/>
            <a:ext cx="978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46.60%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789920" y="3337560"/>
            <a:ext cx="77724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835640" y="3410712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0.94×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567160" y="3337560"/>
            <a:ext cx="137160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1612880" y="3410712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73.0%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18120" y="3703320"/>
            <a:ext cx="192024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863840" y="3776472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D10 (Lowest Risk)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738360" y="3703320"/>
            <a:ext cx="105156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784080" y="3776472"/>
            <a:ext cx="978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19.50%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789920" y="3703320"/>
            <a:ext cx="77724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835640" y="3776472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0.39×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567160" y="3703320"/>
            <a:ext cx="1371600" cy="36576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1612880" y="3776472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100.0%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11480" y="4919472"/>
            <a:ext cx="4187952" cy="1627632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39496" y="5010912"/>
            <a:ext cx="3950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DC2626"/>
                </a:solidFill>
              </a:defRPr>
            </a:pPr>
            <a:r>
              <a:t>Decile-1 Churn: 79.85%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9496" y="5340096"/>
            <a:ext cx="3950208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0F172A"/>
                </a:solidFill>
              </a:defRPr>
            </a:pPr>
            <a:r>
              <a:t>Almost 4 in 5 customers flagged in D1 will churn — 1.61x better than random.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754880" y="4919472"/>
            <a:ext cx="4187952" cy="1627632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882896" y="5010912"/>
            <a:ext cx="3950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</a:defRPr>
            </a:pPr>
            <a:r>
              <a:t>Top 20% → 30% Recall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82896" y="5340096"/>
            <a:ext cx="3950208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0F172A"/>
                </a:solidFill>
              </a:defRPr>
            </a:pPr>
            <a:r>
              <a:t>Targeting just 20,000 customers captures 29.7% of all churners. Precision beats scale.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098280" y="4919472"/>
            <a:ext cx="4187952" cy="1627632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226296" y="5010912"/>
            <a:ext cx="3950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D9488"/>
                </a:solidFill>
              </a:defRPr>
            </a:pPr>
            <a:r>
              <a:t>D6 = 73% Churners Captured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226296" y="5340096"/>
            <a:ext cx="3950208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0F172A"/>
                </a:solidFill>
              </a:defRPr>
            </a:pPr>
            <a:r>
              <a:t>Stopping at the top 6 deciles recovers 73% of all churners at 60% targeting cost.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t>ML Insight: Top Churn Predictors — Root-Cause Attribution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Permutation Importance on HistGradientBoosting | Test Set N=5,000 | 5 Repeats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</a:defRPr>
            </a:pPr>
            <a:r>
              <a:t>[Source: Altmann et al. (2010) Permutation Importance; Scikit-Learn permutation_importance()]   Project SmartRetain  |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74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</a:defRPr>
            </a:pPr>
            <a:r>
              <a:t>12 / 15</a:t>
            </a:r>
          </a:p>
        </p:txBody>
      </p:sp>
      <p:pic>
        <p:nvPicPr>
          <p:cNvPr id="9" name="Picture 8" descr="fig4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7772400" cy="53766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66760" y="1143000"/>
            <a:ext cx="3657600" cy="537667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366760" y="1143000"/>
            <a:ext cx="64008" cy="537667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49640" y="1271016"/>
            <a:ext cx="3383280" cy="5175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</a:defRPr>
            </a:pPr>
            <a:r>
              <a:t>Actionable Driver Summary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DEVICE (blue): eqpdays &amp; hnd_price are top structural drivers — hardware upgrade offers are highest-ROI.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USAGE (red): usage_drop_ratio &amp; mou_Mean signal disengagement 30–60 days before churn.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BILLING (amber): totmrc_Mean &amp; overage_ratio — plan right-sizing reduces bill-shock churn.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TENURE (green): months — contract renewal windows (13–18 mos) need proactive loyalty offers.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CREDIT (purple): asl_flag customers have elevated churn; special flexible plan options needed.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 These drivers directly inform each of the three retention intervention types in the business proposal.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t>Business Proposal: Project SmartRetain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ML-Guided Proactive Retention Strategy — Three Targeted Interventions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</a:defRPr>
            </a:pPr>
            <a:r>
              <a:t>[Source: McKinsey (2021) save rate benchmark; Bain &amp; Co. (2020) CAC vs retention cost]   Project SmartRetain  |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74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</a:defRPr>
            </a:pPr>
            <a:r>
              <a:t>13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11365992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FFFFFF"/>
                </a:solidFill>
              </a:defRPr>
            </a:pPr>
            <a:r>
              <a:t>STRATEGY: Score every customer weekly → target top 20% risk cohort → apply personalised intervention → measure save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719072"/>
            <a:ext cx="3566160" cy="303580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1719072"/>
            <a:ext cx="3566160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" y="1755648"/>
            <a:ext cx="3364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</a:defRPr>
            </a:pPr>
            <a:r>
              <a:t>Intervention 1</a:t>
            </a:r>
            <a:br/>
            <a:r>
              <a:t>Device Upgrade Offer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2084832"/>
            <a:ext cx="3328416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TARGET: eqpdays &gt;18 months OR hnd_price &lt;$50 in top 2 deciles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OFFER: $50–$100 handset subsidy or trade-in credit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EVIDENCE: Device age &gt;2 yrs = 57.9% churn; budget handsets = 57.5% churn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EXPECTED SAVE RATE: 25–30% of targeted customers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COST: ~$75 average per offer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78808" y="1719072"/>
            <a:ext cx="3566160" cy="303580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78808" y="1719072"/>
            <a:ext cx="356616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88536" y="1755648"/>
            <a:ext cx="3364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</a:defRPr>
            </a:pPr>
            <a:r>
              <a:t>Intervention 2</a:t>
            </a:r>
            <a:br/>
            <a:r>
              <a:t>Plan Right-Sizing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6824" y="2084832"/>
            <a:ext cx="3328416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TARGET: ovrrev_Mean &gt;$20 OR usage_drop_ratio &lt;-1.0 in top 2 deciles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OFFER: Proactive plan upgrade to eliminate overage; custom usage-matched plan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EVIDENCE: Overage &gt;$30 = 52.6% churn; usage drop &gt;100m = 53.6% churn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EXPECTED SAVE RATE: 20–25% of targeted customers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COST: ~$30 average per offer (revenue-neutral to slightly positive)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46136" y="1719072"/>
            <a:ext cx="3566160" cy="303580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46136" y="1719072"/>
            <a:ext cx="3566160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55864" y="1755648"/>
            <a:ext cx="3364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</a:defRPr>
            </a:pPr>
            <a:r>
              <a:t>Intervention 3</a:t>
            </a:r>
            <a:br/>
            <a:r>
              <a:t>Loyalty &amp; Renewal Offer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2084832"/>
            <a:ext cx="3328416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TARGET: months 10–16 (pre-renewal window) in top 3 deciles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OFFER: Contract renewal bonus (e.g. 1 month free, loyalty points, device accessory)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EVIDENCE: Peak churn cliff at months 13–18 (52.7% churn rate)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EXPECTED SAVE RATE: 18–22% of targeted customers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 COST: ~$35 average per offer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892040"/>
            <a:ext cx="11365992" cy="2560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901184"/>
            <a:ext cx="11064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 i="0">
                <a:solidFill>
                  <a:srgbClr val="FFFFFF"/>
                </a:solidFill>
              </a:defRPr>
            </a:pPr>
            <a:r>
              <a:t>ML-GUIDED vs UNTARGETED BLANKET OFFER:  Blanket (100k × $45) = $4.5M cost, ~$2.8M rev saved = -$1.7M NET LOSS    |    ML-Guided (20k × $45) = $0.9M cost, $2.3M rev saved = +$1.41M NET PROFIT</a:t>
            </a:r>
          </a:p>
        </p:txBody>
      </p:sp>
      <p:pic>
        <p:nvPicPr>
          <p:cNvPr id="25" name="Picture 24" descr="fig5_score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230368"/>
            <a:ext cx="11365992" cy="12984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t>ROI Quantification &amp; Implementation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157% ROI | 4.7-Month Payback | Scalable to $14.1M Net Profit at 1M Subscribers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</a:defRPr>
            </a:pPr>
            <a:r>
              <a:t>[Source: Bain &amp; Co. (2020) 22.5% save rate; McKinsey (2021); Internal financial model]   Project SmartRetain  |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74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</a:defRPr>
            </a:pPr>
            <a:r>
              <a:t>14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3200400" cy="3383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120700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</a:defRPr>
            </a:pPr>
            <a:r>
              <a:t>Financial Metric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143000"/>
            <a:ext cx="2560320" cy="3383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75888" y="1207008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</a:defRPr>
            </a:pPr>
            <a:r>
              <a:t>PoC Scale (100k subs)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43000"/>
            <a:ext cx="2560320" cy="3383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8" y="1207008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</a:defRPr>
            </a:pPr>
            <a:r>
              <a:t>Enterprise Scale (1M subs)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481328"/>
            <a:ext cx="3200400" cy="338328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" y="1545336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Targeted Cohort (Top 20%)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1481328"/>
            <a:ext cx="2560320" cy="338328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75888" y="154533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20,000 accounts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481328"/>
            <a:ext cx="2560320" cy="338328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36208" y="154533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200,000 accounts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819656"/>
            <a:ext cx="3200400" cy="338328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" y="1883664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Expected Churners in Target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1819656"/>
            <a:ext cx="2560320" cy="338328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75888" y="1883664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14,600  (73% churn)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1819656"/>
            <a:ext cx="2560320" cy="338328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6208" y="1883664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146,000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157984"/>
            <a:ext cx="3200400" cy="338328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5488" y="2221992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Save Rate (22.5% benchmark)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11880" y="2157984"/>
            <a:ext cx="2560320" cy="338328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75888" y="2221992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3,285 customers/yr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2157984"/>
            <a:ext cx="2560320" cy="338328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36208" y="2221992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32,850 customers/yr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496312"/>
            <a:ext cx="3200400" cy="338328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5488" y="2560320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Annual ARPU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11880" y="2496312"/>
            <a:ext cx="2560320" cy="338328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75888" y="2560320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$704.64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2496312"/>
            <a:ext cx="2560320" cy="338328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36208" y="2560320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$704.64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2834640"/>
            <a:ext cx="3200400" cy="338328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5488" y="289864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Gross Revenue Preserved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11880" y="2834640"/>
            <a:ext cx="2560320" cy="338328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75888" y="2898648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$2,314,742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2834640"/>
            <a:ext cx="2560320" cy="338328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36208" y="2898648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$23,147,418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3172968"/>
            <a:ext cx="3200400" cy="338328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75488" y="3236976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Campaign Cost ($45/offer)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11880" y="3172968"/>
            <a:ext cx="2560320" cy="338328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75888" y="323697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$900,000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3172968"/>
            <a:ext cx="2560320" cy="338328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6208" y="323697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</a:defRPr>
            </a:pPr>
            <a:r>
              <a:t>$9,000,000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3511296"/>
            <a:ext cx="3200400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75488" y="3575304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0F172A"/>
                </a:solidFill>
              </a:defRPr>
            </a:pPr>
            <a:r>
              <a:t>Net Annual Profit Lift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11880" y="3511296"/>
            <a:ext cx="2560320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675888" y="3575304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16A34A"/>
                </a:solidFill>
              </a:defRPr>
            </a:pPr>
            <a:r>
              <a:t>+$1,414,742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72200" y="3511296"/>
            <a:ext cx="2560320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36208" y="3575304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16A34A"/>
                </a:solidFill>
              </a:defRPr>
            </a:pPr>
            <a:r>
              <a:t>+$14,147,418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3849624"/>
            <a:ext cx="3200400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75488" y="3913632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0F172A"/>
                </a:solidFill>
              </a:defRPr>
            </a:pPr>
            <a:r>
              <a:t>ROI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11880" y="3849624"/>
            <a:ext cx="2560320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675888" y="3913632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16A34A"/>
                </a:solidFill>
              </a:defRPr>
            </a:pPr>
            <a:r>
              <a:t>157.2%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72200" y="3849624"/>
            <a:ext cx="2560320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236208" y="3913632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16A34A"/>
                </a:solidFill>
              </a:defRPr>
            </a:pPr>
            <a:r>
              <a:t>157.2%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4187952"/>
            <a:ext cx="3200400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75488" y="4251960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0F172A"/>
                </a:solidFill>
              </a:defRPr>
            </a:pPr>
            <a:r>
              <a:t>Payback Period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11880" y="4187952"/>
            <a:ext cx="2560320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675888" y="4251960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16A34A"/>
                </a:solidFill>
              </a:defRPr>
            </a:pPr>
            <a:r>
              <a:t>4.7 months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72200" y="4187952"/>
            <a:ext cx="2560320" cy="338328"/>
          </a:xfrm>
          <a:prstGeom prst="rect">
            <a:avLst/>
          </a:prstGeom>
          <a:solidFill>
            <a:srgbClr val="DCFCE7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36208" y="4251960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16A34A"/>
                </a:solidFill>
              </a:defRPr>
            </a:pPr>
            <a:r>
              <a:t>4.7 months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11480" y="4617720"/>
            <a:ext cx="2880360" cy="19659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411480" y="4617720"/>
            <a:ext cx="64008" cy="1965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94360" y="4745736"/>
            <a:ext cx="260604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Phase 1: Deploy</a:t>
            </a:r>
            <a:br/>
            <a:r>
              <a:t>(Weeks 1–4)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</a:defRPr>
            </a:pPr>
            <a:r>
              <a:t>•  Productionise HGB scoring pipeline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</a:defRPr>
            </a:pPr>
            <a:r>
              <a:t>•  Score 100k customers weekly in CRM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</a:defRPr>
            </a:pPr>
            <a:r>
              <a:t>•  Flag top-2-decile cohort for outreach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</a:defRPr>
            </a:pPr>
            <a:r>
              <a:t>•  Set up A/B control group (10%)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474720" y="4617720"/>
            <a:ext cx="2880360" cy="19659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3474720" y="4617720"/>
            <a:ext cx="64008" cy="19659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657600" y="4745736"/>
            <a:ext cx="260604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D9488"/>
                </a:solidFill>
              </a:defRPr>
            </a:pPr>
            <a:r>
              <a:t>Phase 2: Intervene</a:t>
            </a:r>
            <a:br/>
            <a:r>
              <a:t>(Weeks 5–12)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</a:defRPr>
            </a:pPr>
            <a:r>
              <a:t>•  Launch 3 targeted offer campaigns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</a:defRPr>
            </a:pPr>
            <a:r>
              <a:t>•  Priority: aged-device + high-overage + pre-renewal segments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</a:defRPr>
            </a:pPr>
            <a:r>
              <a:t>•  Track save rate vs control weekly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</a:defRPr>
            </a:pPr>
            <a:r>
              <a:t>•  Adjust offer types based on response rate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537960" y="4617720"/>
            <a:ext cx="2880360" cy="19659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6537960" y="4617720"/>
            <a:ext cx="64008" cy="19659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720840" y="4745736"/>
            <a:ext cx="260604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6A34A"/>
                </a:solidFill>
              </a:defRPr>
            </a:pPr>
            <a:r>
              <a:t>Phase 3: Scale</a:t>
            </a:r>
            <a:br/>
            <a:r>
              <a:t>(Months 4–12)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</a:defRPr>
            </a:pPr>
            <a:r>
              <a:t>•  Expand to full 1M subscriber base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</a:defRPr>
            </a:pPr>
            <a:r>
              <a:t>•  Embed real-time event-driven scoring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</a:defRPr>
            </a:pPr>
            <a:r>
              <a:t>•  Quarterly model refresh with new data</a:t>
            </a:r>
          </a:p>
          <a:p>
            <a:pPr>
              <a:spcAft>
                <a:spcPts val="300"/>
              </a:spcAft>
              <a:defRPr sz="900">
                <a:solidFill>
                  <a:srgbClr val="0F172A"/>
                </a:solidFill>
              </a:defRPr>
            </a:pPr>
            <a:r>
              <a:t>•  Target: $14.1M net annual profit</a:t>
            </a:r>
          </a:p>
        </p:txBody>
      </p:sp>
      <p:pic>
        <p:nvPicPr>
          <p:cNvPr id="78" name="Picture 77" descr="fig3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4462272"/>
            <a:ext cx="3410712" cy="21214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t>References &amp; Citations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</a:defRPr>
            </a:pPr>
            <a:r>
              <a:t>All External Data, Methods, Benchmarks &amp; Tools Cited in This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</a:defRPr>
            </a:pPr>
            <a:r>
              <a:t>Project SmartRetain  |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74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</a:defRPr>
            </a:pPr>
            <a:r>
              <a:t>15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43000"/>
            <a:ext cx="5486400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50" b="1">
                <a:solidFill>
                  <a:srgbClr val="1E3A8A"/>
                </a:solidFill>
              </a:defRPr>
            </a:pPr>
            <a:r>
              <a:rPr dirty="0"/>
              <a:t>Market &amp; Industry Data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rPr dirty="0"/>
              <a:t>[1]  Bain &amp; Company. (2020). Prescription for Cutting Costs: Reducing Customer Defection. Bain &amp; Company Insights. https://www.bain.com/insights/prescription-for-cutting-costs/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rPr dirty="0"/>
              <a:t>[2]  McKinsey &amp; Company. (2021). The value of getting personalization right — or wrong — is multiplying. McKinsey Digital Insights. https://www.mckinsey.com/capabilities/growth-marketing-and-sales/our-insights/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rPr dirty="0"/>
              <a:t>[3]  GSMA Intelligence. (2023). State of Mobile Internet Connectivity Report 2023. GSMA. https://www.gsma.com/r/somic/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rPr dirty="0"/>
              <a:t>[4]  Federal Communications Commission. (2022). FCC Mobile Wireless Competition Report. FCC. https://www.fcc.gov/mobile-competition-reports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rPr dirty="0"/>
              <a:t>[5]  Ericsson AB. (2024). Ericsson Mobility Report, June 2024. https://www.ericsson.com/en/reports-and-papers/mobility-report</a:t>
            </a:r>
          </a:p>
          <a:p>
            <a:pPr>
              <a:spcBef>
                <a:spcPts val="600"/>
              </a:spcBef>
              <a:defRPr sz="1050" b="1">
                <a:solidFill>
                  <a:srgbClr val="1E3A8A"/>
                </a:solidFill>
              </a:defRPr>
            </a:pPr>
            <a:r>
              <a:rPr dirty="0"/>
              <a:t>Machine Learning Methods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rPr dirty="0"/>
              <a:t>[6]  </a:t>
            </a:r>
            <a:r>
              <a:rPr dirty="0" err="1"/>
              <a:t>Breiman</a:t>
            </a:r>
            <a:r>
              <a:rPr dirty="0"/>
              <a:t>, L. (2001). Random Forests. Machine Learning, 45(1), 5–32. https://doi.org/10.1023/A:1010933404324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rPr dirty="0"/>
              <a:t>[7]  Friedman, J. H. (2001). Greedy Function Approximation: A Gradient Boosting Machine. Annals of Statistics, 29(5), 1189–1232.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rPr dirty="0"/>
              <a:t>[8]  Altmann, A., </a:t>
            </a:r>
            <a:r>
              <a:rPr dirty="0" err="1"/>
              <a:t>Tolosi</a:t>
            </a:r>
            <a:r>
              <a:rPr dirty="0"/>
              <a:t>, L., Sander, O., &amp; </a:t>
            </a:r>
            <a:r>
              <a:rPr dirty="0" err="1"/>
              <a:t>Lengauer</a:t>
            </a:r>
            <a:r>
              <a:rPr dirty="0"/>
              <a:t>, T. (2010). Permutation importance: a corrected feature importance measure. Bioinformatics, 26(10), 1340–1347.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rPr dirty="0"/>
              <a:t>[9]  Kumar, D. A., &amp; Ravi, V. (2007). Predicting credit card customer churn using data mining techniques. International Journal of Data Analysis Techniques and Strategies, 1(1), 4–28.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rPr dirty="0"/>
              <a:t>[10] </a:t>
            </a:r>
            <a:r>
              <a:rPr dirty="0" err="1"/>
              <a:t>Pedregosa</a:t>
            </a:r>
            <a:r>
              <a:rPr dirty="0"/>
              <a:t>, F., et al. (2011). Scikit-learn: Machine Learning in Python. JMLR 12, 2825–2830. https://scikit-learn.org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143000"/>
            <a:ext cx="5760720" cy="240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50" b="1">
                <a:solidFill>
                  <a:srgbClr val="1E3A8A"/>
                </a:solidFill>
              </a:defRPr>
            </a:pPr>
            <a:r>
              <a:rPr dirty="0"/>
              <a:t>Dataset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rPr dirty="0"/>
              <a:t>[11] Client.csv &amp; Record.csv. (2024). Provided by client as part of the IT Consulting PoC engagement.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rPr dirty="0"/>
              <a:t>     Contains: 100,000 customers | 50 client features (demographics, device, plan) | 50 usage/billing features.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rPr dirty="0"/>
              <a:t>     Merged on </a:t>
            </a:r>
            <a:r>
              <a:rPr dirty="0" err="1"/>
              <a:t>Customer_ID</a:t>
            </a:r>
            <a:r>
              <a:rPr dirty="0"/>
              <a:t>. Churn label: binary (1 = churned, 0 = active).</a:t>
            </a:r>
          </a:p>
          <a:p>
            <a:pPr>
              <a:spcBef>
                <a:spcPts val="600"/>
              </a:spcBef>
              <a:defRPr sz="1050" b="1">
                <a:solidFill>
                  <a:srgbClr val="1E3A8A"/>
                </a:solidFill>
              </a:defRPr>
            </a:pPr>
            <a:r>
              <a:rPr dirty="0"/>
              <a:t>Analysis Code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rPr dirty="0"/>
              <a:t>[12] new_eda.py — Standalone EDA script. Generates 7 figures (</a:t>
            </a:r>
            <a:r>
              <a:rPr dirty="0" err="1"/>
              <a:t>figures_eda</a:t>
            </a:r>
            <a:r>
              <a:rPr dirty="0"/>
              <a:t>/). This project.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rPr dirty="0"/>
              <a:t>[13] new_test.py — ML training &amp; evaluation script. Generates 5 figures (</a:t>
            </a:r>
            <a:r>
              <a:rPr dirty="0" err="1"/>
              <a:t>figures_model</a:t>
            </a:r>
            <a:r>
              <a:rPr dirty="0"/>
              <a:t>/). This project.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rPr dirty="0"/>
              <a:t>[14] new_pres_gen.py — Presentation </a:t>
            </a:r>
            <a:r>
              <a:rPr sz="1000" dirty="0"/>
              <a:t>generator</a:t>
            </a:r>
            <a:r>
              <a:rPr dirty="0"/>
              <a:t>. Produces new_pres.pptx. This project.</a:t>
            </a:r>
          </a:p>
          <a:p>
            <a:pPr>
              <a:spcBef>
                <a:spcPts val="600"/>
              </a:spcBef>
              <a:defRPr sz="1050" b="1">
                <a:solidFill>
                  <a:srgbClr val="1E3A8A"/>
                </a:solidFill>
              </a:defRPr>
            </a:pPr>
            <a:r>
              <a:rPr dirty="0"/>
              <a:t>On-Slide Citation Key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rPr dirty="0"/>
              <a:t>Slides 4, 13, 14: [1] Bain &amp; Co. (2020); [2] McKinsey (2021)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rPr dirty="0"/>
              <a:t>Slides 4, 5: [3] GSMA (2023); [4] FCC (2022)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rPr dirty="0"/>
              <a:t>Slides 6–8: [12] new_eda.py | Internal dataset analysis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rPr dirty="0"/>
              <a:t>Slides 9–12: [6] </a:t>
            </a:r>
            <a:r>
              <a:rPr dirty="0" err="1"/>
              <a:t>Breiman</a:t>
            </a:r>
            <a:r>
              <a:rPr dirty="0"/>
              <a:t> (2001); [7] Friedman (2001); [8] Altmann (2010); [10] Scikit-Learn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rPr dirty="0"/>
              <a:t>Slide 11: [9] Kumar &amp; Ravi (2007) Decile Lift 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00800"/>
            <a:ext cx="11365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4748B"/>
                </a:solidFill>
              </a:defRPr>
            </a:pPr>
            <a:r>
              <a:t>This proposal is based entirely on original analysis of the client-provided dataset. All external statistics and methodologies are cited above. Model results are reproducible from new_eda.py and new_test.py.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3487</Words>
  <Application>Microsoft Office PowerPoint</Application>
  <PresentationFormat>Widescreen</PresentationFormat>
  <Paragraphs>393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2026-10-29T23:12:53Z</dcterms:modified>
  <cp:category/>
</cp:coreProperties>
</file>